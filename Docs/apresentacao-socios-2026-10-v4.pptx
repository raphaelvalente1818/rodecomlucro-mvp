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bca1a7b-448e-3759-2959-b29f5a299b62}">
          <p14:sldIdLst>
            <p14:sldId id="256"/>
          </p14:sldIdLst>
        </p14:section>
        <p14:section name="Onde estamos" id="{74e2852b-c1b5-ac2d-5b87-a6f76d60216a}">
          <p14:sldIdLst>
            <p14:sldId id="257"/>
          </p14:sldIdLst>
        </p14:section>
        <p14:section name="Concorrente" id="{1168cec4-6323-9a76-4dde-f63d608afbd9}">
          <p14:sldIdLst>
            <p14:sldId id="258"/>
            <p14:sldId id="259"/>
            <p14:sldId id="260"/>
            <p14:sldId id="261"/>
          </p14:sldIdLst>
        </p14:section>
        <p14:section name="Problema e solução" id="{961fd7d9-dc9f-14f8-727b-047b277639c0}">
          <p14:sldIdLst>
            <p14:sldId id="262"/>
            <p14:sldId id="263"/>
            <p14:sldId id="264"/>
          </p14:sldIdLst>
        </p14:section>
        <p14:section name="Plano" id="{63263863-f7f5-97f0-6505-252439e22314}">
          <p14:sldIdLst>
            <p14:sldId id="265"/>
            <p14:sldId id="266"/>
            <p14:sldId id="267"/>
            <p14:sldId id="268"/>
            <p14:sldId id="269"/>
          </p14:sldIdLst>
        </p14:section>
        <p14:section name="Decisões" id="{72e822df-96c0-9d6d-9c93-391f636f4620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Reunião de decisão, não de informação. Mostrar números crus, concorrente, problema do telefone, solução, ordem do MVP, decisões. Fechar com demo no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do banco em 12/10. 21 motoristas reais (sem os números de teste). Gate 1/160 = só 1 motorista completou a jornada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Fretes: rolei até o fim, 10 ofertas, texto colado de grupo de WhatsApp com link do grupo. Tô vazio é a única área viva. Golpe: golpista chama quem se declara vazio e pede taxa da seguradora.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Placar honesto: eles ganham em presença (loja, tô vazio, brique). Nós ganhamos onde o dinheiro está: canal, cálculo, contato e confiança. Fretes velhos é o nosso ponto fraco — igual ao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Ressalva: foto de domingo, do que aparece na tela. Não sabemos a receita deles. Mas pra decidir o nosso MVP a conclusão fica de 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Prints do teste real de 13/10. Fretebras é o incumbente: tem a carga e o dinheiro. Não competimos no pagamento; competimos no canal (WhatsApp), no cálculo honesto e na confiança barata (CNH + indicação + RNTRC).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Decidido na prévia de 15/10: nunca mandar do número oficial pra empresa sem opt-in. A ligação do operador, na primeira vez, é o opt-in; a partir do segundo interesse a empresa já é conhecida e o aviso é automático. Frete é perecível: por isso o prazo de 2 h e o fallback da mensagem do próprio motorista.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ordem vem da conclusão do concorrente: carga primeiro. Tô vazio só depois de ter frete vivo, senão vira cidade fantasma.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concierge — ligar antes resolve o opt-in (depois da ligação a empresa consentiu) e converte muito mais que mensagem fria. 3: código de 4 dígitos gerado no interesse; a empresa vê no portal ou recebe na ligação; o motorista vê no bot. 5: misturar PRO com selo destrói a credibilidade do selo.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explicado: o bot devolve um link; ao tocar, abre o WhatsApp do próprio motorista com a mensagem pra empresa já escrita; ele só aperta enviar. A mensagem sai do número dele, como já acontece nos grupos. A página intermediária + operadores é o concierge do ponto 1 — mesma coisa, com gente ligando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 dormente: migration aplicada, functions stripe-webhook e assinar, bot ASSINAR/PLANO, card no app. Nada aparece sem as chaves do Stripe. Precisa: fechar a tabela, abrir a conta Stripe, contador pra NFS-e.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demo vale mais que os slides. Deixar cada sócio mandar a própria rota.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B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Rode com Lucro · Sofrete — reunião de sócios, outubro/2026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Rode com Lucro · Sofrete — reunião de sócios, outubro/2026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Rode com Lucro · Sofrete</a:t>
            </a:r>
            <a:endParaRPr lang="en-US" sz="32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Onde estamos, o que aprendemos com os concorrentes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e o que precisamos decidir</a:t>
            </a:r>
            <a:endParaRPr lang="en-US" sz="2400" dirty="0"/>
          </a:p>
        </p:txBody>
      </p:sp>
      <p:sp>
        <p:nvSpPr>
          <p:cNvPr id="4" name="data"/>
          <p:cNvSpPr txBox="1"/>
          <p:nvPr/>
        </p:nvSpPr>
        <p:spPr>
          <a:xfrm>
            <a:off x="548640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Reunião de sócios · outubro de 2026 · 45 min + demo ao vivo</a:t>
            </a:r>
            <a:endParaRPr lang="en-US" sz="1400" dirty="0"/>
          </a:p>
        </p:txBody>
      </p:sp>
      <p:sp>
        <p:nvSpPr>
          <p:cNvPr id="5" name="chamada"/>
          <p:cNvSpPr/>
          <p:nvPr/>
        </p:nvSpPr>
        <p:spPr>
          <a:xfrm>
            <a:off x="548640" y="338328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6" name="chamada txt"/>
          <p:cNvSpPr txBox="1"/>
          <p:nvPr/>
        </p:nvSpPr>
        <p:spPr>
          <a:xfrm>
            <a:off x="685800" y="3383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Saímos daqui com 5 decisões tomadas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Onde estamos hoje</a:t>
            </a:r>
            <a:endParaRPr lang="en-US" sz="2800" dirty="0"/>
          </a:p>
        </p:txBody>
      </p:sp>
      <p:sp>
        <p:nvSpPr>
          <p:cNvPr id="3" name="card motoristas cadastrados"/>
          <p:cNvSpPr/>
          <p:nvPr/>
        </p:nvSpPr>
        <p:spPr>
          <a:xfrm>
            <a:off x="548640" y="12344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4" name="stat motoristas cadastrados"/>
          <p:cNvSpPr txBox="1"/>
          <p:nvPr/>
        </p:nvSpPr>
        <p:spPr>
          <a:xfrm>
            <a:off x="68580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000" dirty="0"/>
          </a:p>
        </p:txBody>
      </p:sp>
      <p:sp>
        <p:nvSpPr>
          <p:cNvPr id="5" name="label motoristas cadastrados"/>
          <p:cNvSpPr txBox="1"/>
          <p:nvPr/>
        </p:nvSpPr>
        <p:spPr>
          <a:xfrm>
            <a:off x="68580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motoristas cadastrados</a:t>
            </a:r>
            <a:endParaRPr lang="en-US" sz="1100" dirty="0"/>
          </a:p>
        </p:txBody>
      </p:sp>
      <p:sp>
        <p:nvSpPr>
          <p:cNvPr id="6" name="card consultas pelo WhatsApp"/>
          <p:cNvSpPr/>
          <p:nvPr/>
        </p:nvSpPr>
        <p:spPr>
          <a:xfrm>
            <a:off x="2606040" y="12344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7" name="stat consultas pelo WhatsApp"/>
          <p:cNvSpPr txBox="1"/>
          <p:nvPr/>
        </p:nvSpPr>
        <p:spPr>
          <a:xfrm>
            <a:off x="274320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3000" dirty="0"/>
          </a:p>
        </p:txBody>
      </p:sp>
      <p:sp>
        <p:nvSpPr>
          <p:cNvPr id="8" name="label consultas pelo WhatsApp"/>
          <p:cNvSpPr txBox="1"/>
          <p:nvPr/>
        </p:nvSpPr>
        <p:spPr>
          <a:xfrm>
            <a:off x="274320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consultas pelo WhatsApp</a:t>
            </a:r>
            <a:endParaRPr lang="en-US" sz="1100" dirty="0"/>
          </a:p>
        </p:txBody>
      </p:sp>
      <p:sp>
        <p:nvSpPr>
          <p:cNvPr id="9" name="card análises no app"/>
          <p:cNvSpPr/>
          <p:nvPr/>
        </p:nvSpPr>
        <p:spPr>
          <a:xfrm>
            <a:off x="4663440" y="12344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0" name="stat análises no app"/>
          <p:cNvSpPr txBox="1"/>
          <p:nvPr/>
        </p:nvSpPr>
        <p:spPr>
          <a:xfrm>
            <a:off x="480060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3000" dirty="0"/>
          </a:p>
        </p:txBody>
      </p:sp>
      <p:sp>
        <p:nvSpPr>
          <p:cNvPr id="11" name="label análises no app"/>
          <p:cNvSpPr txBox="1"/>
          <p:nvPr/>
        </p:nvSpPr>
        <p:spPr>
          <a:xfrm>
            <a:off x="480060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análises no app</a:t>
            </a:r>
            <a:endParaRPr lang="en-US" sz="1100" dirty="0"/>
          </a:p>
        </p:txBody>
      </p:sp>
      <p:sp>
        <p:nvSpPr>
          <p:cNvPr id="12" name="card gate de validação"/>
          <p:cNvSpPr/>
          <p:nvPr/>
        </p:nvSpPr>
        <p:spPr>
          <a:xfrm>
            <a:off x="6720840" y="12344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3" name="stat gate de validação"/>
          <p:cNvSpPr txBox="1"/>
          <p:nvPr/>
        </p:nvSpPr>
        <p:spPr>
          <a:xfrm>
            <a:off x="6858000" y="13258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160</a:t>
            </a:r>
            <a:endParaRPr lang="en-US" sz="3000" dirty="0"/>
          </a:p>
        </p:txBody>
      </p:sp>
      <p:sp>
        <p:nvSpPr>
          <p:cNvPr id="14" name="label gate de validação"/>
          <p:cNvSpPr txBox="1"/>
          <p:nvPr/>
        </p:nvSpPr>
        <p:spPr>
          <a:xfrm>
            <a:off x="6858000" y="1920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gate de validação</a:t>
            </a:r>
            <a:endParaRPr lang="en-US" sz="1100" dirty="0"/>
          </a:p>
        </p:txBody>
      </p:sp>
      <p:sp>
        <p:nvSpPr>
          <p:cNvPr id="15" name="no ar h"/>
          <p:cNvSpPr txBox="1"/>
          <p:nvPr/>
        </p:nvSpPr>
        <p:spPr>
          <a:xfrm>
            <a:off x="54864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ar</a:t>
            </a:r>
            <a:endParaRPr lang="en-US" sz="1600" dirty="0"/>
          </a:p>
        </p:txBody>
      </p:sp>
      <p:sp>
        <p:nvSpPr>
          <p:cNvPr id="16" name="no ar lista"/>
          <p:cNvSpPr txBox="1"/>
          <p:nvPr/>
        </p:nvSpPr>
        <p:spPr>
          <a:xfrm>
            <a:off x="548640" y="30175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Bot no WhatsApp (v88): calcula, cota, busca frete, lê CNH/CRLV por foto, memória da conversa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 do motorista com barra de abas, custo real, piso ANTT, pneus por eixo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Sofrete: empresa publica, pausa e fecha frete; painel admin com moderação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Compartilhar frete com um colega + indicação (viral) — no ar desde 09/10</a:t>
            </a:r>
            <a:endParaRPr lang="en-US" sz="1300" dirty="0"/>
          </a:p>
        </p:txBody>
      </p:sp>
      <p:sp>
        <p:nvSpPr>
          <p:cNvPr id="17" name="alerta"/>
          <p:cNvSpPr/>
          <p:nvPr/>
        </p:nvSpPr>
        <p:spPr>
          <a:xfrm>
            <a:off x="5943600" y="2697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8" name="alerta h"/>
          <p:cNvSpPr txBox="1"/>
          <p:nvPr/>
        </p:nvSpPr>
        <p:spPr>
          <a:xfrm>
            <a:off x="612648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 gargalo é aquisição</a:t>
            </a:r>
            <a:endParaRPr lang="en-US" sz="1500" dirty="0"/>
          </a:p>
        </p:txBody>
      </p:sp>
      <p:sp>
        <p:nvSpPr>
          <p:cNvPr id="19" name="alerta p"/>
          <p:cNvSpPr txBox="1"/>
          <p:nvPr/>
        </p:nvSpPr>
        <p:spPr>
          <a:xfrm>
            <a:off x="6126480" y="32461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810 fretes na base são de agosto (importados). 3 empresas cadastradas. Tudo que vem a seguir ataca isso.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Zé Boléia por dentro</a:t>
            </a:r>
            <a:endParaRPr lang="en-US" sz="28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App nas lojas, só app (sem WhatsApp). Calculadora vs. ANTT, controle de viagens e uma comunidade com 8 abas. Medido na tela em 12/10/2026.</a:t>
            </a:r>
            <a:endParaRPr lang="en-US" sz="1300" dirty="0"/>
          </a:p>
        </p:txBody>
      </p:sp>
      <p:sp>
        <p:nvSpPr>
          <p:cNvPr id="4" name="card downloads · nota 3,6"/>
          <p:cNvSpPr/>
          <p:nvPr/>
        </p:nvSpPr>
        <p:spPr>
          <a:xfrm>
            <a:off x="548640" y="17373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5" name="stat downloads · nota 3,6"/>
          <p:cNvSpPr txBox="1"/>
          <p:nvPr/>
        </p:nvSpPr>
        <p:spPr>
          <a:xfrm>
            <a:off x="685800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mil+</a:t>
            </a:r>
            <a:endParaRPr lang="en-US" sz="2600" dirty="0"/>
          </a:p>
        </p:txBody>
      </p:sp>
      <p:sp>
        <p:nvSpPr>
          <p:cNvPr id="6" name="label downloads · nota 3,6"/>
          <p:cNvSpPr txBox="1"/>
          <p:nvPr/>
        </p:nvSpPr>
        <p:spPr>
          <a:xfrm>
            <a:off x="68580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downloads · nota 3,6</a:t>
            </a:r>
            <a:endParaRPr lang="en-US" sz="1100" dirty="0"/>
          </a:p>
        </p:txBody>
      </p:sp>
      <p:sp>
        <p:nvSpPr>
          <p:cNvPr id="7" name="card fretes abertos (4 agenciadores)"/>
          <p:cNvSpPr/>
          <p:nvPr/>
        </p:nvSpPr>
        <p:spPr>
          <a:xfrm>
            <a:off x="2606040" y="17373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8" name="stat fretes abertos (4 agenciadores)"/>
          <p:cNvSpPr txBox="1"/>
          <p:nvPr/>
        </p:nvSpPr>
        <p:spPr>
          <a:xfrm>
            <a:off x="2743200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9" name="label fretes abertos (4 agenciadores)"/>
          <p:cNvSpPr txBox="1"/>
          <p:nvPr/>
        </p:nvSpPr>
        <p:spPr>
          <a:xfrm>
            <a:off x="274320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fretes abertos (4 agenciadores)</a:t>
            </a:r>
            <a:endParaRPr lang="en-US" sz="1100" dirty="0"/>
          </a:p>
        </p:txBody>
      </p:sp>
      <p:sp>
        <p:nvSpPr>
          <p:cNvPr id="10" name="card motoristas &quot;tô vazio&quot; em 24 h"/>
          <p:cNvSpPr/>
          <p:nvPr/>
        </p:nvSpPr>
        <p:spPr>
          <a:xfrm>
            <a:off x="4663440" y="17373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1" name="stat motoristas &amp;quot;tô vazio&amp;quot; em 24 h"/>
          <p:cNvSpPr txBox="1"/>
          <p:nvPr/>
        </p:nvSpPr>
        <p:spPr>
          <a:xfrm>
            <a:off x="4800600" y="1828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3000" dirty="0"/>
          </a:p>
        </p:txBody>
      </p:sp>
      <p:sp>
        <p:nvSpPr>
          <p:cNvPr id="12" name="label motoristas &amp;quot;tô vazio&amp;quot; em 24 h"/>
          <p:cNvSpPr txBox="1"/>
          <p:nvPr/>
        </p:nvSpPr>
        <p:spPr>
          <a:xfrm>
            <a:off x="480060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motoristas "tô vazio" em 24 h</a:t>
            </a:r>
            <a:endParaRPr lang="en-US" sz="1100" dirty="0"/>
          </a:p>
        </p:txBody>
      </p:sp>
      <p:sp>
        <p:nvSpPr>
          <p:cNvPr id="13" name="card anúncios no Brique (~1/dia)"/>
          <p:cNvSpPr/>
          <p:nvPr/>
        </p:nvSpPr>
        <p:spPr>
          <a:xfrm>
            <a:off x="6720840" y="173736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4" name="stat anúncios no Brique (~1/dia)"/>
          <p:cNvSpPr txBox="1"/>
          <p:nvPr/>
        </p:nvSpPr>
        <p:spPr>
          <a:xfrm>
            <a:off x="6858000" y="18288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3000" dirty="0"/>
          </a:p>
        </p:txBody>
      </p:sp>
      <p:sp>
        <p:nvSpPr>
          <p:cNvPr id="15" name="label anúncios no Brique (~1/dia)"/>
          <p:cNvSpPr txBox="1"/>
          <p:nvPr/>
        </p:nvSpPr>
        <p:spPr>
          <a:xfrm>
            <a:off x="6858000" y="24231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anúncios no Brique (~1/dia)</a:t>
            </a:r>
            <a:endParaRPr lang="en-US" sz="1100" dirty="0"/>
          </a:p>
        </p:txBody>
      </p:sp>
      <p:sp>
        <p:nvSpPr>
          <p:cNvPr id="16" name="card postos de diesel informados"/>
          <p:cNvSpPr/>
          <p:nvPr/>
        </p:nvSpPr>
        <p:spPr>
          <a:xfrm>
            <a:off x="548640" y="30632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7" name="stat postos de diesel informados"/>
          <p:cNvSpPr txBox="1"/>
          <p:nvPr/>
        </p:nvSpPr>
        <p:spPr>
          <a:xfrm>
            <a:off x="68580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label postos de diesel informados"/>
          <p:cNvSpPr txBox="1"/>
          <p:nvPr/>
        </p:nvSpPr>
        <p:spPr>
          <a:xfrm>
            <a:off x="685800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postos de diesel informados</a:t>
            </a:r>
            <a:endParaRPr lang="en-US" sz="1100" dirty="0"/>
          </a:p>
        </p:txBody>
      </p:sp>
      <p:sp>
        <p:nvSpPr>
          <p:cNvPr id="19" name="card posts no feed em 17 dias"/>
          <p:cNvSpPr/>
          <p:nvPr/>
        </p:nvSpPr>
        <p:spPr>
          <a:xfrm>
            <a:off x="2606040" y="30632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0" name="stat posts no feed em 17 dias"/>
          <p:cNvSpPr txBox="1"/>
          <p:nvPr/>
        </p:nvSpPr>
        <p:spPr>
          <a:xfrm>
            <a:off x="274320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3000" dirty="0"/>
          </a:p>
        </p:txBody>
      </p:sp>
      <p:sp>
        <p:nvSpPr>
          <p:cNvPr id="21" name="label posts no feed em 17 dias"/>
          <p:cNvSpPr txBox="1"/>
          <p:nvPr/>
        </p:nvSpPr>
        <p:spPr>
          <a:xfrm>
            <a:off x="2743200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posts no feed em 17 dias</a:t>
            </a:r>
            <a:endParaRPr lang="en-US" sz="1100" dirty="0"/>
          </a:p>
        </p:txBody>
      </p:sp>
      <p:sp>
        <p:nvSpPr>
          <p:cNvPr id="22" name="card relatos de golpe em 17 dias"/>
          <p:cNvSpPr/>
          <p:nvPr/>
        </p:nvSpPr>
        <p:spPr>
          <a:xfrm>
            <a:off x="4663440" y="30632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3" name="stat relatos de golpe em 17 dias"/>
          <p:cNvSpPr txBox="1"/>
          <p:nvPr/>
        </p:nvSpPr>
        <p:spPr>
          <a:xfrm>
            <a:off x="480060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24" name="label relatos de golpe em 17 dias"/>
          <p:cNvSpPr txBox="1"/>
          <p:nvPr/>
        </p:nvSpPr>
        <p:spPr>
          <a:xfrm>
            <a:off x="4800600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relatos de golpe em 17 dias</a:t>
            </a:r>
            <a:endParaRPr lang="en-US" sz="1100" dirty="0"/>
          </a:p>
        </p:txBody>
      </p:sp>
      <p:sp>
        <p:nvSpPr>
          <p:cNvPr id="25" name="card parceiros ativos no clube"/>
          <p:cNvSpPr/>
          <p:nvPr/>
        </p:nvSpPr>
        <p:spPr>
          <a:xfrm>
            <a:off x="6720840" y="306324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6" name="stat parceiros ativos no clube"/>
          <p:cNvSpPr txBox="1"/>
          <p:nvPr/>
        </p:nvSpPr>
        <p:spPr>
          <a:xfrm>
            <a:off x="6858000" y="3154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27" name="label parceiros ativos no clube"/>
          <p:cNvSpPr txBox="1"/>
          <p:nvPr/>
        </p:nvSpPr>
        <p:spPr>
          <a:xfrm>
            <a:off x="6858000" y="3749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parceiros ativos no clube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Lado a lado: os dois concorrentes e nós</a:t>
            </a:r>
            <a:endParaRPr lang="en-US" sz="2800" dirty="0"/>
          </a:p>
        </p:txBody>
      </p:sp>
      <p:graphicFrame>
        <p:nvGraphicFramePr>
          <p:cNvPr id="5" name="tabela lado a lad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2240280"/>
                <a:gridCol w="2240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Zé Boléia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Fretebras (motorista)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Rode com Lucro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usa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Só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Só app; bloqueia 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WhatsApp + web +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Só vs. ANTT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Calculadora simples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Custo real, lucro, veredito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10, de agenciador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Muitos (é o incumbente)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810 de agosto (velhos)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Chat interno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Chat interno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Direto ou WhatsApp do motorista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Opcional; golpe no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Pesada: ANTT, PIX, selfie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CNH por foto + indicação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Reputação da empresa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Não 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Só no VIP pago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Grátis (proposta)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Não 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Carteira, antecipação, garantia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Fora do escopo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pago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E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 Clube sem parceiros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VIP: vê frete antes, destaque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PRO (igual ao VIP) — pronto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Por que o frete deles não decolou</a:t>
            </a:r>
            <a:endParaRPr lang="en-US" sz="3200" dirty="0"/>
          </a:p>
        </p:txBody>
      </p:sp>
      <p:sp>
        <p:nvSpPr>
          <p:cNvPr id="3" name="num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num txt 1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h 1"/>
          <p:cNvSpPr txBox="1"/>
          <p:nvPr/>
        </p:nvSpPr>
        <p:spPr>
          <a:xfrm>
            <a:off x="1188720" y="1234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Pediram pro mercado se mudar</a:t>
            </a:r>
            <a:endParaRPr lang="en-US" sz="1400" dirty="0"/>
          </a:p>
        </p:txBody>
      </p:sp>
      <p:sp>
        <p:nvSpPr>
          <p:cNvPr id="6" name="p 1"/>
          <p:cNvSpPr txBox="1"/>
          <p:nvPr/>
        </p:nvSpPr>
        <p:spPr>
          <a:xfrm>
            <a:off x="4023360" y="1234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 frete vive nos grupos de WhatsApp. Eles copiaram o grupo numa tela e pediram pro caminhoneiro olhar outra tela.</a:t>
            </a:r>
            <a:endParaRPr lang="en-US" sz="1200" dirty="0"/>
          </a:p>
        </p:txBody>
      </p:sp>
      <p:sp>
        <p:nvSpPr>
          <p:cNvPr id="7" name="num 2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num txt 2"/>
          <p:cNvSpPr txBox="1"/>
          <p:nvPr/>
        </p:nvSpPr>
        <p:spPr>
          <a:xfrm>
            <a:off x="54864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h 2"/>
          <p:cNvSpPr txBox="1"/>
          <p:nvPr/>
        </p:nvSpPr>
        <p:spPr>
          <a:xfrm>
            <a:off x="1188720" y="1892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Marketplace sem o lado da carga</a:t>
            </a:r>
            <a:endParaRPr lang="en-US" sz="1400" dirty="0"/>
          </a:p>
        </p:txBody>
      </p:sp>
      <p:sp>
        <p:nvSpPr>
          <p:cNvPr id="10" name="p 2"/>
          <p:cNvSpPr txBox="1"/>
          <p:nvPr/>
        </p:nvSpPr>
        <p:spPr>
          <a:xfrm>
            <a:off x="4023360" y="1892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Tem motorista (lado fácil), não tem embarcador. O agenciador preenche o vazio — e posta onde já posta.</a:t>
            </a:r>
            <a:endParaRPr lang="en-US" sz="1200" dirty="0"/>
          </a:p>
        </p:txBody>
      </p:sp>
      <p:sp>
        <p:nvSpPr>
          <p:cNvPr id="11" name="num 3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num txt 3"/>
          <p:cNvSpPr txBox="1"/>
          <p:nvPr/>
        </p:nvSpPr>
        <p:spPr>
          <a:xfrm>
            <a:off x="54864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h 3"/>
          <p:cNvSpPr txBox="1"/>
          <p:nvPr/>
        </p:nvSpPr>
        <p:spPr>
          <a:xfrm>
            <a:off x="1188720" y="25511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Confiança zero</a:t>
            </a:r>
            <a:endParaRPr lang="en-US" sz="1400" dirty="0"/>
          </a:p>
        </p:txBody>
      </p:sp>
      <p:sp>
        <p:nvSpPr>
          <p:cNvPr id="14" name="p 3"/>
          <p:cNvSpPr txBox="1"/>
          <p:nvPr/>
        </p:nvSpPr>
        <p:spPr>
          <a:xfrm>
            <a:off x="4023360" y="25511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Qualquer número entra e chama. O feed virou mural de golpe em 17 dias.</a:t>
            </a:r>
            <a:endParaRPr lang="en-US" sz="1200" dirty="0"/>
          </a:p>
        </p:txBody>
      </p:sp>
      <p:sp>
        <p:nvSpPr>
          <p:cNvPr id="15" name="num 4"/>
          <p:cNvSpPr/>
          <p:nvPr/>
        </p:nvSpPr>
        <p:spPr>
          <a:xfrm>
            <a:off x="548640" y="3255264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num txt 4"/>
          <p:cNvSpPr txBox="1"/>
          <p:nvPr/>
        </p:nvSpPr>
        <p:spPr>
          <a:xfrm>
            <a:off x="5486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h 4"/>
          <p:cNvSpPr txBox="1"/>
          <p:nvPr/>
        </p:nvSpPr>
        <p:spPr>
          <a:xfrm>
            <a:off x="1188720" y="32095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Largura em vez de profundidade</a:t>
            </a:r>
            <a:endParaRPr lang="en-US" sz="1400" dirty="0"/>
          </a:p>
        </p:txBody>
      </p:sp>
      <p:sp>
        <p:nvSpPr>
          <p:cNvPr id="18" name="p 4"/>
          <p:cNvSpPr txBox="1"/>
          <p:nvPr/>
        </p:nvSpPr>
        <p:spPr>
          <a:xfrm>
            <a:off x="4023360" y="32095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Oito abas, três vazias. A calculadora, que seria o núcleo, não diz se dá lucro.</a:t>
            </a:r>
            <a:endParaRPr lang="en-US" sz="1200" dirty="0"/>
          </a:p>
        </p:txBody>
      </p:sp>
      <p:sp>
        <p:nvSpPr>
          <p:cNvPr id="19" name="num 5"/>
          <p:cNvSpPr/>
          <p:nvPr/>
        </p:nvSpPr>
        <p:spPr>
          <a:xfrm>
            <a:off x="548640" y="3913632"/>
            <a:ext cx="457200" cy="45720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num txt 5"/>
          <p:cNvSpPr txBox="1"/>
          <p:nvPr/>
        </p:nvSpPr>
        <p:spPr>
          <a:xfrm>
            <a:off x="5486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h 5"/>
          <p:cNvSpPr txBox="1"/>
          <p:nvPr/>
        </p:nvSpPr>
        <p:spPr>
          <a:xfrm>
            <a:off x="1188720" y="38679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Monetização antes da massa</a:t>
            </a:r>
            <a:endParaRPr lang="en-US" sz="1400" dirty="0"/>
          </a:p>
        </p:txBody>
      </p:sp>
      <p:sp>
        <p:nvSpPr>
          <p:cNvPr id="22" name="p 5"/>
          <p:cNvSpPr txBox="1"/>
          <p:nvPr/>
        </p:nvSpPr>
        <p:spPr>
          <a:xfrm>
            <a:off x="4023360" y="38679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Clube de descontos sem nenhum parceiro ativo. Sem receita, sem fôlego.</a:t>
            </a:r>
            <a:endParaRPr lang="en-US" sz="1200" dirty="0"/>
          </a:p>
        </p:txBody>
      </p:sp>
      <p:sp>
        <p:nvSpPr>
          <p:cNvPr id="23" name="takeaway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A carga é o gargalo deles — e vai ser o nosso.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Fretebras por dentro (lado do motorista)</a:t>
            </a:r>
            <a:endParaRPr lang="en-US" sz="28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Teste real de um sócio em 13/10. Só app nativo, sem web e sem WhatsApp.</a:t>
            </a:r>
            <a:endParaRPr lang="en-US" sz="1300" dirty="0"/>
          </a:p>
        </p:txBody>
      </p:sp>
      <p:sp>
        <p:nvSpPr>
          <p:cNvPr id="4" name="f Verificação pesada"/>
          <p:cNvSpPr/>
          <p:nvPr/>
        </p:nvSpPr>
        <p:spPr>
          <a:xfrm>
            <a:off x="548640" y="150876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5" name="fh Verificação pesada"/>
          <p:cNvSpPr txBox="1"/>
          <p:nvPr/>
        </p:nvSpPr>
        <p:spPr>
          <a:xfrm>
            <a:off x="731520" y="15636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Verificação pesada</a:t>
            </a:r>
            <a:endParaRPr lang="en-US" sz="1300" dirty="0"/>
          </a:p>
        </p:txBody>
      </p:sp>
      <p:sp>
        <p:nvSpPr>
          <p:cNvPr id="6" name="fp Verificação pesada"/>
          <p:cNvSpPr txBox="1"/>
          <p:nvPr/>
        </p:nvSpPr>
        <p:spPr>
          <a:xfrm>
            <a:off x="731520" y="18105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ANTT consultada na hora (acusa titular diferente), CNH, endereço, PIX confirmado, selfie, localização.</a:t>
            </a:r>
            <a:endParaRPr lang="en-US" sz="1050" dirty="0"/>
          </a:p>
        </p:txBody>
      </p:sp>
      <p:sp>
        <p:nvSpPr>
          <p:cNvPr id="7" name="f O produto é pagamento"/>
          <p:cNvSpPr/>
          <p:nvPr/>
        </p:nvSpPr>
        <p:spPr>
          <a:xfrm>
            <a:off x="548640" y="2258568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8" name="fh O produto é pagamento"/>
          <p:cNvSpPr txBox="1"/>
          <p:nvPr/>
        </p:nvSpPr>
        <p:spPr>
          <a:xfrm>
            <a:off x="731520" y="23134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 produto é pagamento</a:t>
            </a:r>
            <a:endParaRPr lang="en-US" sz="1300" dirty="0"/>
          </a:p>
        </p:txBody>
      </p:sp>
      <p:sp>
        <p:nvSpPr>
          <p:cNvPr id="9" name="fp O produto é pagamento"/>
          <p:cNvSpPr txBox="1"/>
          <p:nvPr/>
        </p:nvSpPr>
        <p:spPr>
          <a:xfrm>
            <a:off x="731520" y="25603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Carteira, antecipação de saldo (R$ 3 mil pré-aprovado), garantia contra calote. A viagem só conta quando o PIX passa por eles.</a:t>
            </a:r>
            <a:endParaRPr lang="en-US" sz="1050" dirty="0"/>
          </a:p>
        </p:txBody>
      </p:sp>
      <p:sp>
        <p:nvSpPr>
          <p:cNvPr id="10" name="f VIP = nosso PRO"/>
          <p:cNvSpPr/>
          <p:nvPr/>
        </p:nvSpPr>
        <p:spPr>
          <a:xfrm>
            <a:off x="548640" y="3008376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1" name="fh VIP = nosso PRO"/>
          <p:cNvSpPr txBox="1"/>
          <p:nvPr/>
        </p:nvSpPr>
        <p:spPr>
          <a:xfrm>
            <a:off x="731520" y="30632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VIP = nosso PRO</a:t>
            </a:r>
            <a:endParaRPr lang="en-US" sz="1300" dirty="0"/>
          </a:p>
        </p:txBody>
      </p:sp>
      <p:sp>
        <p:nvSpPr>
          <p:cNvPr id="12" name="fp VIP = nosso PRO"/>
          <p:cNvSpPr txBox="1"/>
          <p:nvPr/>
        </p:nvSpPr>
        <p:spPr>
          <a:xfrm>
            <a:off x="731520" y="33101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Ver frete antes, perfil em destaque, ver reputação da empresa. Valida o desenho do PRO.</a:t>
            </a:r>
            <a:endParaRPr lang="en-US" sz="1050" dirty="0"/>
          </a:p>
        </p:txBody>
      </p:sp>
      <p:sp>
        <p:nvSpPr>
          <p:cNvPr id="13" name="f Contato e print"/>
          <p:cNvSpPr/>
          <p:nvPr/>
        </p:nvSpPr>
        <p:spPr>
          <a:xfrm>
            <a:off x="548640" y="3758184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4" name="fh Contato e print"/>
          <p:cNvSpPr txBox="1"/>
          <p:nvPr/>
        </p:nvSpPr>
        <p:spPr>
          <a:xfrm>
            <a:off x="731520" y="38130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Contato e print</a:t>
            </a:r>
            <a:endParaRPr lang="en-US" sz="1300" dirty="0"/>
          </a:p>
        </p:txBody>
      </p:sp>
      <p:sp>
        <p:nvSpPr>
          <p:cNvPr id="15" name="fp Contato e print"/>
          <p:cNvSpPr txBox="1"/>
          <p:nvPr/>
        </p:nvSpPr>
        <p:spPr>
          <a:xfrm>
            <a:off x="731520" y="405993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Chat interno esconde o telefone; print da lista sai em branco. Eles guardam o frete; nós espalhamos.</a:t>
            </a:r>
            <a:endParaRPr lang="en-US" sz="1050" dirty="0"/>
          </a:p>
        </p:txBody>
      </p:sp>
      <p:sp>
        <p:nvSpPr>
          <p:cNvPr id="16" name="copiar"/>
          <p:cNvSpPr/>
          <p:nvPr/>
        </p:nvSpPr>
        <p:spPr>
          <a:xfrm>
            <a:off x="5669280" y="1508760"/>
            <a:ext cx="2926080" cy="2999232"/>
          </a:xfrm>
          <a:prstGeom prst="roundRect">
            <a:avLst>
              <a:gd name="adj" fmla="val 2500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7" name="copiar h"/>
          <p:cNvSpPr txBox="1"/>
          <p:nvPr/>
        </p:nvSpPr>
        <p:spPr>
          <a:xfrm>
            <a:off x="585216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 que copiamos (barato)</a:t>
            </a:r>
            <a:endParaRPr lang="en-US" sz="1400" dirty="0"/>
          </a:p>
        </p:txBody>
      </p:sp>
      <p:sp>
        <p:nvSpPr>
          <p:cNvPr id="18" name="copiar lista"/>
          <p:cNvSpPr txBox="1"/>
          <p:nvPr/>
        </p:nvSpPr>
        <p:spPr>
          <a:xfrm>
            <a:off x="5852160" y="201168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RNTRC no cartão verificado (o embarcador precisa pro CIOT)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Foto do caminhão, opcional, só pra empresa aprovada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"Quer que as empresas te vejam?" na hora da busca — o tô vazio sem aba nova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Reputação da empresa grátis (lá é VIP pago)</a:t>
            </a:r>
            <a:endParaRPr lang="en-US" sz="1150" dirty="0"/>
          </a:p>
        </p:txBody>
      </p:sp>
      <p:sp>
        <p:nvSpPr>
          <p:cNvPr id="19" name="nao"/>
          <p:cNvSpPr txBox="1"/>
          <p:nvPr/>
        </p:nvSpPr>
        <p:spPr>
          <a:xfrm>
            <a:off x="585216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Não copiamos: carteira (financeiro regulado), selfie e comprovante (atrito), bloqueio de print, chat interno.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problema: o telefone do contratante</a:t>
            </a:r>
            <a:endParaRPr lang="en-US" sz="2800" dirty="0"/>
          </a:p>
        </p:txBody>
      </p:sp>
      <p:sp>
        <p:nvSpPr>
          <p:cNvPr id="3" name="hoje"/>
          <p:cNvSpPr/>
          <p:nvPr/>
        </p:nvSpPr>
        <p:spPr>
          <a:xfrm>
            <a:off x="548640" y="123444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4" name="hoje h"/>
          <p:cNvSpPr txBox="1"/>
          <p:nvPr/>
        </p:nvSpPr>
        <p:spPr>
          <a:xfrm>
            <a:off x="7772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Hoje</a:t>
            </a:r>
            <a:endParaRPr lang="en-US" sz="1800" dirty="0"/>
          </a:p>
        </p:txBody>
      </p:sp>
      <p:sp>
        <p:nvSpPr>
          <p:cNvPr id="5" name="hoje lista"/>
          <p:cNvSpPr txBox="1"/>
          <p:nvPr/>
        </p:nvSpPr>
        <p:spPr>
          <a:xfrm>
            <a:off x="77724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Mostramos o telefone de todo frete, no bot e no app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Quando a empresa publicar pela Sofrete, ela decide se o telefone aparece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 não aparecer, motorista e empresa não têm como falar</a:t>
            </a:r>
            <a:endParaRPr lang="en-US" sz="1300" dirty="0"/>
          </a:p>
        </p:txBody>
      </p:sp>
      <p:sp>
        <p:nvSpPr>
          <p:cNvPr id="6" name="descartado"/>
          <p:cNvSpPr/>
          <p:nvPr/>
        </p:nvSpPr>
        <p:spPr>
          <a:xfrm>
            <a:off x="4754880" y="123444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7" name="desc h"/>
          <p:cNvSpPr txBox="1"/>
          <p:nvPr/>
        </p:nvSpPr>
        <p:spPr>
          <a:xfrm>
            <a:off x="498348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 que descartamos</a:t>
            </a:r>
            <a:endParaRPr lang="en-US" sz="1800" dirty="0"/>
          </a:p>
        </p:txBody>
      </p:sp>
      <p:sp>
        <p:nvSpPr>
          <p:cNvPr id="8" name="desc lista"/>
          <p:cNvSpPr txBox="1"/>
          <p:nvPr/>
        </p:nvSpPr>
        <p:spPr>
          <a:xfrm>
            <a:off x="498348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Chat interno completo: ~6 dias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Dependeria de o caminhoneiro abrir o app pra ler a resposta — o Zé Boléia prova que ele não abre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Mandar WhatsApp pra empresa que não nos conhece: a Meta exige opt-in; disparo frio derruba a nota do número e corta o bot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solução: "Tenho interesse" com concierge</a:t>
            </a:r>
            <a:endParaRPr lang="en-US" sz="28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O motorista se candidata, verificado. Empresa que ainda não nos conhece: um operador liga primeiro (uma vez só). Empresa já cadastrada: aviso automático na Sofrete e no WhatsApp.</a:t>
            </a:r>
            <a:endParaRPr lang="en-US" sz="1250" dirty="0"/>
          </a:p>
        </p:txBody>
      </p:sp>
      <p:sp>
        <p:nvSpPr>
          <p:cNvPr id="4" name="passo 1"/>
          <p:cNvSpPr/>
          <p:nvPr/>
        </p:nvSpPr>
        <p:spPr>
          <a:xfrm>
            <a:off x="5486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5" name="n 1"/>
          <p:cNvSpPr txBox="1"/>
          <p:nvPr/>
        </p:nvSpPr>
        <p:spPr>
          <a:xfrm>
            <a:off x="6400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h 1"/>
          <p:cNvSpPr txBox="1"/>
          <p:nvPr/>
        </p:nvSpPr>
        <p:spPr>
          <a:xfrm>
            <a:off x="6400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Tenho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interesse</a:t>
            </a:r>
            <a:endParaRPr lang="en-US" sz="1300" dirty="0"/>
          </a:p>
        </p:txBody>
      </p:sp>
      <p:sp>
        <p:nvSpPr>
          <p:cNvPr id="7" name="p 1"/>
          <p:cNvSpPr txBox="1"/>
          <p:nvPr/>
        </p:nvSpPr>
        <p:spPr>
          <a:xfrm>
            <a:off x="6400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no bot ou no app</a:t>
            </a:r>
            <a:endParaRPr lang="en-US" sz="950" dirty="0"/>
          </a:p>
        </p:txBody>
      </p:sp>
      <p:sp>
        <p:nvSpPr>
          <p:cNvPr id="8" name="seta 1"/>
          <p:cNvSpPr/>
          <p:nvPr/>
        </p:nvSpPr>
        <p:spPr>
          <a:xfrm>
            <a:off x="1755648" y="2240280"/>
            <a:ext cx="146304" cy="228600"/>
          </a:xfrm>
          <a:prstGeom prst="rightArrow">
            <a:avLst/>
          </a:prstGeom>
          <a:solidFill>
            <a:srgbClr val="C990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passo 2"/>
          <p:cNvSpPr/>
          <p:nvPr/>
        </p:nvSpPr>
        <p:spPr>
          <a:xfrm>
            <a:off x="19202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0" name="n 2"/>
          <p:cNvSpPr txBox="1"/>
          <p:nvPr/>
        </p:nvSpPr>
        <p:spPr>
          <a:xfrm>
            <a:off x="20116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h 2"/>
          <p:cNvSpPr txBox="1"/>
          <p:nvPr/>
        </p:nvSpPr>
        <p:spPr>
          <a:xfrm>
            <a:off x="20116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CNH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por foto</a:t>
            </a:r>
            <a:endParaRPr lang="en-US" sz="1300" dirty="0"/>
          </a:p>
        </p:txBody>
      </p:sp>
      <p:sp>
        <p:nvSpPr>
          <p:cNvPr id="12" name="p 2"/>
          <p:cNvSpPr txBox="1"/>
          <p:nvPr/>
        </p:nvSpPr>
        <p:spPr>
          <a:xfrm>
            <a:off x="20116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só depois vale; ganha selo</a:t>
            </a:r>
            <a:endParaRPr lang="en-US" sz="950" dirty="0"/>
          </a:p>
        </p:txBody>
      </p:sp>
      <p:sp>
        <p:nvSpPr>
          <p:cNvPr id="13" name="seta 2"/>
          <p:cNvSpPr/>
          <p:nvPr/>
        </p:nvSpPr>
        <p:spPr>
          <a:xfrm>
            <a:off x="3127248" y="2240280"/>
            <a:ext cx="146304" cy="228600"/>
          </a:xfrm>
          <a:prstGeom prst="rightArrow">
            <a:avLst/>
          </a:prstGeom>
          <a:solidFill>
            <a:srgbClr val="C990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sso 3"/>
          <p:cNvSpPr/>
          <p:nvPr/>
        </p:nvSpPr>
        <p:spPr>
          <a:xfrm>
            <a:off x="32918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5" name="n 3"/>
          <p:cNvSpPr txBox="1"/>
          <p:nvPr/>
        </p:nvSpPr>
        <p:spPr>
          <a:xfrm>
            <a:off x="33832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h 3"/>
          <p:cNvSpPr txBox="1"/>
          <p:nvPr/>
        </p:nvSpPr>
        <p:spPr>
          <a:xfrm>
            <a:off x="33832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Cartão +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senha</a:t>
            </a:r>
            <a:endParaRPr lang="en-US" sz="1300" dirty="0"/>
          </a:p>
        </p:txBody>
      </p:sp>
      <p:sp>
        <p:nvSpPr>
          <p:cNvPr id="17" name="p 3"/>
          <p:cNvSpPr txBox="1"/>
          <p:nvPr/>
        </p:nvSpPr>
        <p:spPr>
          <a:xfrm>
            <a:off x="33832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nome, caminhão, nota, código</a:t>
            </a:r>
            <a:endParaRPr lang="en-US" sz="950" dirty="0"/>
          </a:p>
        </p:txBody>
      </p:sp>
      <p:sp>
        <p:nvSpPr>
          <p:cNvPr id="18" name="seta 3"/>
          <p:cNvSpPr/>
          <p:nvPr/>
        </p:nvSpPr>
        <p:spPr>
          <a:xfrm>
            <a:off x="4498848" y="2240280"/>
            <a:ext cx="146304" cy="228600"/>
          </a:xfrm>
          <a:prstGeom prst="rightArrow">
            <a:avLst/>
          </a:prstGeom>
          <a:solidFill>
            <a:srgbClr val="C990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passo 4"/>
          <p:cNvSpPr/>
          <p:nvPr/>
        </p:nvSpPr>
        <p:spPr>
          <a:xfrm>
            <a:off x="46634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0" name="n 4"/>
          <p:cNvSpPr txBox="1"/>
          <p:nvPr/>
        </p:nvSpPr>
        <p:spPr>
          <a:xfrm>
            <a:off x="47548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h 4"/>
          <p:cNvSpPr txBox="1"/>
          <p:nvPr/>
        </p:nvSpPr>
        <p:spPr>
          <a:xfrm>
            <a:off x="47548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1ª vez: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operador liga</a:t>
            </a:r>
            <a:endParaRPr lang="en-US" sz="1300" dirty="0"/>
          </a:p>
        </p:txBody>
      </p:sp>
      <p:sp>
        <p:nvSpPr>
          <p:cNvPr id="22" name="p 4"/>
          <p:cNvSpPr txBox="1"/>
          <p:nvPr/>
        </p:nvSpPr>
        <p:spPr>
          <a:xfrm>
            <a:off x="47548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até 2 h; apresenta a Sofrete</a:t>
            </a:r>
            <a:endParaRPr lang="en-US" sz="950" dirty="0"/>
          </a:p>
        </p:txBody>
      </p:sp>
      <p:sp>
        <p:nvSpPr>
          <p:cNvPr id="23" name="seta 4"/>
          <p:cNvSpPr/>
          <p:nvPr/>
        </p:nvSpPr>
        <p:spPr>
          <a:xfrm>
            <a:off x="5870448" y="2240280"/>
            <a:ext cx="146304" cy="228600"/>
          </a:xfrm>
          <a:prstGeom prst="rightArrow">
            <a:avLst/>
          </a:prstGeom>
          <a:solidFill>
            <a:srgbClr val="C990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passo 5"/>
          <p:cNvSpPr/>
          <p:nvPr/>
        </p:nvSpPr>
        <p:spPr>
          <a:xfrm>
            <a:off x="60350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5" name="n 5"/>
          <p:cNvSpPr txBox="1"/>
          <p:nvPr/>
        </p:nvSpPr>
        <p:spPr>
          <a:xfrm>
            <a:off x="61264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h 5"/>
          <p:cNvSpPr txBox="1"/>
          <p:nvPr/>
        </p:nvSpPr>
        <p:spPr>
          <a:xfrm>
            <a:off x="61264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Depois: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automático</a:t>
            </a:r>
            <a:endParaRPr lang="en-US" sz="1300" dirty="0"/>
          </a:p>
        </p:txBody>
      </p:sp>
      <p:sp>
        <p:nvSpPr>
          <p:cNvPr id="27" name="p 5"/>
          <p:cNvSpPr txBox="1"/>
          <p:nvPr/>
        </p:nvSpPr>
        <p:spPr>
          <a:xfrm>
            <a:off x="61264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Sofrete + WhatsApp, já com opt-in</a:t>
            </a:r>
            <a:endParaRPr lang="en-US" sz="950" dirty="0"/>
          </a:p>
        </p:txBody>
      </p:sp>
      <p:sp>
        <p:nvSpPr>
          <p:cNvPr id="28" name="seta 5"/>
          <p:cNvSpPr/>
          <p:nvPr/>
        </p:nvSpPr>
        <p:spPr>
          <a:xfrm>
            <a:off x="7242048" y="2240280"/>
            <a:ext cx="146304" cy="228600"/>
          </a:xfrm>
          <a:prstGeom prst="rightArrow">
            <a:avLst/>
          </a:prstGeom>
          <a:solidFill>
            <a:srgbClr val="C990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passo 6"/>
          <p:cNvSpPr/>
          <p:nvPr/>
        </p:nvSpPr>
        <p:spPr>
          <a:xfrm>
            <a:off x="7406640" y="169164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30" name="n 6"/>
          <p:cNvSpPr txBox="1"/>
          <p:nvPr/>
        </p:nvSpPr>
        <p:spPr>
          <a:xfrm>
            <a:off x="749808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h 6"/>
          <p:cNvSpPr txBox="1"/>
          <p:nvPr/>
        </p:nvSpPr>
        <p:spPr>
          <a:xfrm>
            <a:off x="749808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Empresa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entra</a:t>
            </a:r>
            <a:endParaRPr lang="en-US" sz="1300" dirty="0"/>
          </a:p>
        </p:txBody>
      </p:sp>
      <p:sp>
        <p:nvSpPr>
          <p:cNvPr id="32" name="p 6"/>
          <p:cNvSpPr txBox="1"/>
          <p:nvPr/>
        </p:nvSpPr>
        <p:spPr>
          <a:xfrm>
            <a:off x="7498080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cadastra, chama o motorista com a senha</a:t>
            </a:r>
            <a:endParaRPr lang="en-US" sz="950" dirty="0"/>
          </a:p>
        </p:txBody>
      </p:sp>
      <p:sp>
        <p:nvSpPr>
          <p:cNvPr id="33" name="msg"/>
          <p:cNvSpPr/>
          <p:nvPr/>
        </p:nvSpPr>
        <p:spPr>
          <a:xfrm>
            <a:off x="548640" y="329184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34" name="msg h"/>
          <p:cNvSpPr txBox="1"/>
          <p:nvPr/>
        </p:nvSpPr>
        <p:spPr>
          <a:xfrm>
            <a:off x="731520" y="33649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 que o operador diz ao telefone (30 segundos):</a:t>
            </a:r>
            <a:endParaRPr lang="en-US" sz="1100" dirty="0"/>
          </a:p>
        </p:txBody>
      </p:sp>
      <p:sp>
        <p:nvSpPr>
          <p:cNvPr id="35" name="msg p"/>
          <p:cNvSpPr txBox="1"/>
          <p:nvPr/>
        </p:nvSpPr>
        <p:spPr>
          <a:xfrm>
            <a:off x="731520" y="363931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1"/>
                </a:solidFill>
              </a:rPr>
              <a:t>"Aqui é da Sofrete. Um caminhoneiro verificado, carreta sider 6 eixos em Itajaí, se interessou pelo seu frete Itajaí → Jundiaí. Posso te mandar o cartão dele no WhatsApp? O cadastro pra publicar é grátis." — Indicador por operador: ligações, empresas cadastradas, fretes fechados (modelo Aferi+). Sem ligação em 2 h ou fora do horário: o bot libera a mensagem pronta pro motorista mandar ele mesmo, e o operador liga depois.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Uma limitação que vira três produtos</a:t>
            </a:r>
            <a:endParaRPr lang="en-US" sz="3200" dirty="0"/>
          </a:p>
        </p:txBody>
      </p:sp>
      <p:sp>
        <p:nvSpPr>
          <p:cNvPr id="3" name="card Verificação"/>
          <p:cNvSpPr/>
          <p:nvPr/>
        </p:nvSpPr>
        <p:spPr>
          <a:xfrm>
            <a:off x="54864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4" name="dot Verificação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dot n Verificação"/>
          <p:cNvSpPr txBox="1"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h Verificação"/>
          <p:cNvSpPr txBox="1"/>
          <p:nvPr/>
        </p:nvSpPr>
        <p:spPr>
          <a:xfrm>
            <a:off x="731520" y="2103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Verificação</a:t>
            </a:r>
            <a:endParaRPr lang="en-US" sz="1800" dirty="0"/>
          </a:p>
        </p:txBody>
      </p:sp>
      <p:sp>
        <p:nvSpPr>
          <p:cNvPr id="7" name="p Verificação"/>
          <p:cNvSpPr txBox="1"/>
          <p:nvPr/>
        </p:nvSpPr>
        <p:spPr>
          <a:xfrm>
            <a:off x="731520" y="2560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Todo motorista que se candidata manda a CNH; o cartão traz RNTRC e foto do caminhão. Selo "Verificado" em todo lugar. É o antídoto do golpe que infesta o concorrente.</a:t>
            </a:r>
            <a:endParaRPr lang="en-US" sz="1250" dirty="0"/>
          </a:p>
        </p:txBody>
      </p:sp>
      <p:sp>
        <p:nvSpPr>
          <p:cNvPr id="8" name="card Venda da Sofrete"/>
          <p:cNvSpPr/>
          <p:nvPr/>
        </p:nvSpPr>
        <p:spPr>
          <a:xfrm>
            <a:off x="324612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9" name="dot Venda da Sofrete"/>
          <p:cNvSpPr/>
          <p:nvPr/>
        </p:nvSpPr>
        <p:spPr>
          <a:xfrm>
            <a:off x="3429000" y="1463040"/>
            <a:ext cx="502920" cy="50292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dot n Venda da Sofrete"/>
          <p:cNvSpPr txBox="1"/>
          <p:nvPr/>
        </p:nvSpPr>
        <p:spPr>
          <a:xfrm>
            <a:off x="34290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h Venda da Sofrete"/>
          <p:cNvSpPr txBox="1"/>
          <p:nvPr/>
        </p:nvSpPr>
        <p:spPr>
          <a:xfrm>
            <a:off x="3429000" y="2103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Venda da Sofrete</a:t>
            </a:r>
            <a:endParaRPr lang="en-US" sz="1800" dirty="0"/>
          </a:p>
        </p:txBody>
      </p:sp>
      <p:sp>
        <p:nvSpPr>
          <p:cNvPr id="12" name="p Venda da Sofrete"/>
          <p:cNvSpPr txBox="1"/>
          <p:nvPr/>
        </p:nvSpPr>
        <p:spPr>
          <a:xfrm>
            <a:off x="3429000" y="2560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Cada interesse num frete de empresa não cadastrada é uma apresentação da Sofrete feita por um caminhoneiro verificado, na hora em que ela mais precisa de caminhão.</a:t>
            </a:r>
            <a:endParaRPr lang="en-US" sz="1250" dirty="0"/>
          </a:p>
        </p:txBody>
      </p:sp>
      <p:sp>
        <p:nvSpPr>
          <p:cNvPr id="13" name="card Reputação"/>
          <p:cNvSpPr/>
          <p:nvPr/>
        </p:nvSpPr>
        <p:spPr>
          <a:xfrm>
            <a:off x="594360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4" name="dot Reputação"/>
          <p:cNvSpPr/>
          <p:nvPr/>
        </p:nvSpPr>
        <p:spPr>
          <a:xfrm>
            <a:off x="6126480" y="1463040"/>
            <a:ext cx="502920" cy="502920"/>
          </a:xfrm>
          <a:prstGeom prst="ellipse">
            <a:avLst/>
          </a:prstGeom>
          <a:solidFill>
            <a:srgbClr val="F2B0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dot n Reputação"/>
          <p:cNvSpPr txBox="1"/>
          <p:nvPr/>
        </p:nvSpPr>
        <p:spPr>
          <a:xfrm>
            <a:off x="61264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h Reputação"/>
          <p:cNvSpPr txBox="1"/>
          <p:nvPr/>
        </p:nvSpPr>
        <p:spPr>
          <a:xfrm>
            <a:off x="6126480" y="2103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Reputação</a:t>
            </a:r>
            <a:endParaRPr lang="en-US" sz="1800" dirty="0"/>
          </a:p>
        </p:txBody>
      </p:sp>
      <p:sp>
        <p:nvSpPr>
          <p:cNvPr id="17" name="p Reputação"/>
          <p:cNvSpPr txBox="1"/>
          <p:nvPr/>
        </p:nvSpPr>
        <p:spPr>
          <a:xfrm>
            <a:off x="6126480" y="256032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Avaliação dos dois lados, só depois de frete fechado. Nota da empresa no anúncio; nota do motorista no cartão. Ninguém no mercado tem.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que entra no MVP, em ordem</a:t>
            </a:r>
            <a:endParaRPr lang="en-US" sz="2800" dirty="0"/>
          </a:p>
        </p:txBody>
      </p:sp>
      <p:sp>
        <p:nvSpPr>
          <p:cNvPr id="3" name="linha"/>
          <p:cNvSpPr/>
          <p:nvPr/>
        </p:nvSpPr>
        <p:spPr>
          <a:xfrm>
            <a:off x="914400" y="1417320"/>
            <a:ext cx="0" cy="2606040"/>
          </a:xfrm>
          <a:prstGeom prst="line">
            <a:avLst/>
          </a:prstGeom>
          <a:noFill/>
          <a:ln w="25400">
            <a:solidFill>
              <a:srgbClr val="F2B01E"/>
            </a:solidFill>
            <a:prstDash val="solid"/>
          </a:ln>
        </p:spPr>
      </p:sp>
      <p:sp>
        <p:nvSpPr>
          <p:cNvPr id="4" name="ponto 1"/>
          <p:cNvSpPr/>
          <p:nvPr/>
        </p:nvSpPr>
        <p:spPr>
          <a:xfrm>
            <a:off x="786384" y="1389888"/>
            <a:ext cx="256032" cy="256032"/>
          </a:xfrm>
          <a:prstGeom prst="ellipse">
            <a:avLst/>
          </a:prstGeom>
          <a:solidFill>
            <a:srgbClr val="F2B01E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5" name="h 1"/>
          <p:cNvSpPr txBox="1"/>
          <p:nvPr/>
        </p:nvSpPr>
        <p:spPr>
          <a:xfrm>
            <a:off x="128016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Fretes vivos</a:t>
            </a:r>
            <a:endParaRPr lang="en-US" sz="1500" dirty="0"/>
          </a:p>
        </p:txBody>
      </p:sp>
      <p:sp>
        <p:nvSpPr>
          <p:cNvPr id="6" name="p 1"/>
          <p:cNvSpPr txBox="1"/>
          <p:nvPr/>
        </p:nvSpPr>
        <p:spPr>
          <a:xfrm>
            <a:off x="457200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robô diário ou só Sofrete</a:t>
            </a:r>
            <a:endParaRPr lang="en-US" sz="1200" dirty="0"/>
          </a:p>
        </p:txBody>
      </p:sp>
      <p:sp>
        <p:nvSpPr>
          <p:cNvPr id="7" name="dias 1"/>
          <p:cNvSpPr/>
          <p:nvPr/>
        </p:nvSpPr>
        <p:spPr>
          <a:xfrm>
            <a:off x="7498080" y="135331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8" name="dias txt 1"/>
          <p:cNvSpPr txBox="1"/>
          <p:nvPr/>
        </p:nvSpPr>
        <p:spPr>
          <a:xfrm>
            <a:off x="7498080" y="13533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 dia</a:t>
            </a:r>
            <a:endParaRPr lang="en-US" sz="1200" dirty="0"/>
          </a:p>
        </p:txBody>
      </p:sp>
      <p:sp>
        <p:nvSpPr>
          <p:cNvPr id="9" name="ponto 2"/>
          <p:cNvSpPr/>
          <p:nvPr/>
        </p:nvSpPr>
        <p:spPr>
          <a:xfrm>
            <a:off x="786384" y="2029968"/>
            <a:ext cx="256032" cy="256032"/>
          </a:xfrm>
          <a:prstGeom prst="ellipse">
            <a:avLst/>
          </a:prstGeom>
          <a:solidFill>
            <a:srgbClr val="F2B01E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10" name="h 2"/>
          <p:cNvSpPr txBox="1"/>
          <p:nvPr/>
        </p:nvSpPr>
        <p:spPr>
          <a:xfrm>
            <a:off x="128016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Pedágio pago pelo embarcador</a:t>
            </a:r>
            <a:endParaRPr lang="en-US" sz="1500" dirty="0"/>
          </a:p>
        </p:txBody>
      </p:sp>
      <p:sp>
        <p:nvSpPr>
          <p:cNvPr id="11" name="p 2"/>
          <p:cNvSpPr txBox="1"/>
          <p:nvPr/>
        </p:nvSpPr>
        <p:spPr>
          <a:xfrm>
            <a:off x="45720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toggle no app, entendido pelo bot</a:t>
            </a:r>
            <a:endParaRPr lang="en-US" sz="1200" dirty="0"/>
          </a:p>
        </p:txBody>
      </p:sp>
      <p:sp>
        <p:nvSpPr>
          <p:cNvPr id="12" name="dias 2"/>
          <p:cNvSpPr/>
          <p:nvPr/>
        </p:nvSpPr>
        <p:spPr>
          <a:xfrm>
            <a:off x="7498080" y="199339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3" name="dias txt 2"/>
          <p:cNvSpPr txBox="1"/>
          <p:nvPr/>
        </p:nvSpPr>
        <p:spPr>
          <a:xfrm>
            <a:off x="7498080" y="19933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horas</a:t>
            </a:r>
            <a:endParaRPr lang="en-US" sz="1200" dirty="0"/>
          </a:p>
        </p:txBody>
      </p:sp>
      <p:sp>
        <p:nvSpPr>
          <p:cNvPr id="14" name="ponto 3"/>
          <p:cNvSpPr/>
          <p:nvPr/>
        </p:nvSpPr>
        <p:spPr>
          <a:xfrm>
            <a:off x="786384" y="2670048"/>
            <a:ext cx="256032" cy="256032"/>
          </a:xfrm>
          <a:prstGeom prst="ellipse">
            <a:avLst/>
          </a:prstGeom>
          <a:solidFill>
            <a:srgbClr val="F2B01E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15" name="h 3"/>
          <p:cNvSpPr txBox="1"/>
          <p:nvPr/>
        </p:nvSpPr>
        <p:spPr>
          <a:xfrm>
            <a:off x="1280160" y="2560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Tenho interesse — etapa 1</a:t>
            </a:r>
            <a:endParaRPr lang="en-US" sz="1500" dirty="0"/>
          </a:p>
        </p:txBody>
      </p:sp>
      <p:sp>
        <p:nvSpPr>
          <p:cNvPr id="16" name="p 3"/>
          <p:cNvSpPr txBox="1"/>
          <p:nvPr/>
        </p:nvSpPr>
        <p:spPr>
          <a:xfrm>
            <a:off x="457200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botão, CNH, cartão, senha, link pronto, admin concierge</a:t>
            </a:r>
            <a:endParaRPr lang="en-US" sz="1200" dirty="0"/>
          </a:p>
        </p:txBody>
      </p:sp>
      <p:sp>
        <p:nvSpPr>
          <p:cNvPr id="17" name="dias 3"/>
          <p:cNvSpPr/>
          <p:nvPr/>
        </p:nvSpPr>
        <p:spPr>
          <a:xfrm>
            <a:off x="7498080" y="263347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8" name="dias txt 3"/>
          <p:cNvSpPr txBox="1"/>
          <p:nvPr/>
        </p:nvSpPr>
        <p:spPr>
          <a:xfrm>
            <a:off x="7498080" y="26334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4,5 dias</a:t>
            </a:r>
            <a:endParaRPr lang="en-US" sz="1200" dirty="0"/>
          </a:p>
        </p:txBody>
      </p:sp>
      <p:sp>
        <p:nvSpPr>
          <p:cNvPr id="19" name="ponto 4"/>
          <p:cNvSpPr/>
          <p:nvPr/>
        </p:nvSpPr>
        <p:spPr>
          <a:xfrm>
            <a:off x="786384" y="3310128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20" name="h 4"/>
          <p:cNvSpPr txBox="1"/>
          <p:nvPr/>
        </p:nvSpPr>
        <p:spPr>
          <a:xfrm>
            <a:off x="128016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Tenho interesse — etapas 2 a 5</a:t>
            </a:r>
            <a:endParaRPr lang="en-US" sz="1500" dirty="0"/>
          </a:p>
        </p:txBody>
      </p:sp>
      <p:sp>
        <p:nvSpPr>
          <p:cNvPr id="21" name="p 4"/>
          <p:cNvSpPr txBox="1"/>
          <p:nvPr/>
        </p:nvSpPr>
        <p:spPr>
          <a:xfrm>
            <a:off x="457200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fases na Sofrete, disponível na busca, localização, níveis, RNTRC, avaliações</a:t>
            </a:r>
            <a:endParaRPr lang="en-US" sz="1200" dirty="0"/>
          </a:p>
        </p:txBody>
      </p:sp>
      <p:sp>
        <p:nvSpPr>
          <p:cNvPr id="22" name="dias 4"/>
          <p:cNvSpPr/>
          <p:nvPr/>
        </p:nvSpPr>
        <p:spPr>
          <a:xfrm>
            <a:off x="7498080" y="327355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3" name="dias txt 4"/>
          <p:cNvSpPr txBox="1"/>
          <p:nvPr/>
        </p:nvSpPr>
        <p:spPr>
          <a:xfrm>
            <a:off x="7498080" y="32735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11 dias</a:t>
            </a:r>
            <a:endParaRPr lang="en-US" sz="1200" dirty="0"/>
          </a:p>
        </p:txBody>
      </p:sp>
      <p:sp>
        <p:nvSpPr>
          <p:cNvPr id="24" name="ponto 5"/>
          <p:cNvSpPr/>
          <p:nvPr/>
        </p:nvSpPr>
        <p:spPr>
          <a:xfrm>
            <a:off x="786384" y="3950208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25" name="h 5"/>
          <p:cNvSpPr txBox="1"/>
          <p:nvPr/>
        </p:nvSpPr>
        <p:spPr>
          <a:xfrm>
            <a:off x="128016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Depois dos 300 motoristas</a:t>
            </a:r>
            <a:endParaRPr lang="en-US" sz="1500" dirty="0"/>
          </a:p>
        </p:txBody>
      </p:sp>
      <p:sp>
        <p:nvSpPr>
          <p:cNvPr id="26" name="p 5"/>
          <p:cNvSpPr txBox="1"/>
          <p:nvPr/>
        </p:nvSpPr>
        <p:spPr>
          <a:xfrm>
            <a:off x="457200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prova de vida, PIX de R$ 1, Comunidade</a:t>
            </a:r>
            <a:endParaRPr lang="en-US" sz="1200" dirty="0"/>
          </a:p>
        </p:txBody>
      </p:sp>
      <p:sp>
        <p:nvSpPr>
          <p:cNvPr id="27" name="dias 5"/>
          <p:cNvSpPr/>
          <p:nvPr/>
        </p:nvSpPr>
        <p:spPr>
          <a:xfrm>
            <a:off x="7498080" y="391363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28" name="dias txt 5"/>
          <p:cNvSpPr txBox="1"/>
          <p:nvPr/>
        </p:nvSpPr>
        <p:spPr>
          <a:xfrm>
            <a:off x="7498080" y="39136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—</a:t>
            </a:r>
            <a:endParaRPr lang="en-US" sz="1200" dirty="0"/>
          </a:p>
        </p:txBody>
      </p:sp>
      <p:sp>
        <p:nvSpPr>
          <p:cNvPr id="29" name="total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Total ≈ 17 dias úteis. Os três primeiros (≈ 6 dias) já resolvem telefone, custo real, lista velha e abrem embarcador por telefone.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Pontos da reunião prévia (1/2)</a:t>
            </a:r>
            <a:endParaRPr lang="en-US" sz="2800" dirty="0"/>
          </a:p>
        </p:txBody>
      </p:sp>
      <p:graphicFrame>
        <p:nvGraphicFramePr>
          <p:cNvPr id="12" name="tabela Pontos da reunião prévia (1/2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103120"/>
                <a:gridCol w="137160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Ponto levantado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 a pena?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Esforço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Página no admin com os pedidos de interesse; nós ligamos pra empresa, nos apresentamos e só então mandamos o WhatsApp com o link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Sim — é o jeito certo de abrir embarcador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Atrair os motoristas que já estão na Fretebras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5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Como aquisição sim; como verificação não (não dá pra conferir)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Senha no "Tenho interesse": a empresa se identifica pro motorista com o código (modelo iFood)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Sim — barato e mata o golpe do falso embarcador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Selfie com prova de vida (piscar, mexer o rosto) conferida com a foto da CNH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5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Depois — serviço pago por checagem; vira o nível mais alto da certificação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Pós 300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dias + fornecedor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VIP vê fretes antes, usa mais o WhatsApp e tem nível de confiança maior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5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Fretes antes e WhatsApp sim (é o PRO). Confiança não: selo vem de verificação, não de pagamento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Checar o RNTRC direto na ANTT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Sim — a consulta pública tem captcha; via API paga (centavos por consulta)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Pontos da reunião prévia (2/2)</a:t>
            </a:r>
            <a:endParaRPr lang="en-US" sz="2800" dirty="0"/>
          </a:p>
        </p:txBody>
      </p:sp>
      <p:graphicFrame>
        <p:nvGraphicFramePr>
          <p:cNvPr id="13" name="tabela Pontos da reunião prévia (2/2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103120"/>
                <a:gridCol w="137160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Ponto levantado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 a pena?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Esforço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PIX de R$ 1 pra validar o motorista (nome do banco bate com a CNH)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5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Depois — exige PSP com PIX (Asaas/Pagar.me; Stripe não); entra como nível de certificação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Pós 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Localização do motorista pra indicar frete e serviço perto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Sim — pontual, não rastreio: o WhatsApp manda localização; o app pede no navegador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Níveis de certificação (CNH → RNTRC/PIX → frete feito → …) em vez de pedir tudo de uma vez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Sim — é a nossa resposta ao atrito da Fretebras; o cartão mostra o nível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2–3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 Não usar o número oficial pra empresa sem opt-in: mensagem do WhatsApp do motorista ou página nossa + operadores com indicador por operador (modelo Aferi+)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Sim, os dois: link pronto pro motorista (custo zero) + concierge com indicador por operador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junto com o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 Vale implementar o "Estou vazio"? Quando?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Sim — como "quer que as empresas te vejam?" na busca, só depois de ter frete vivo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PRO: o código está pronto, falta a decisão</a:t>
            </a:r>
            <a:endParaRPr lang="en-US" sz="28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Tabela completa em Docs/decisoes-pagamento-2026-10-09.xlsx. Parado desde 09/10.</a:t>
            </a:r>
            <a:endParaRPr lang="en-US" sz="1200" dirty="0"/>
          </a:p>
        </p:txBody>
      </p:sp>
      <p:graphicFrame>
        <p:nvGraphicFramePr>
          <p:cNvPr id="14" name="tabela pr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566160"/>
                <a:gridCol w="28346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01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paga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Motorista — plano "Rode com Lucro PRO"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 quem usa todo dia; a empresa entra depois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e preço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Mensal, sugestão R$ 29,90; sem trial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grátis com limite já é a degustação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libera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Fretes ilimitados + primeira mão (&lt; 2 h) + WhatsApp sem limite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claro pra quem vive de carga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do grátis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consultas/dia no WhatsApp (hoje 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cálculo, cotação e busca contam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Provedor / meio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Stripe, só cartão; PIX pronto pra ligar depois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hospedado; 3,99% + R$ 0,39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compra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Site/PWA e link no WhatsApp — nunca dentro do app da Play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Billing custa 4× mais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ligar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Depois da semeadura (30–50 ativos)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Cobrar antes do uso é cobrar de ninguém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que fica pra depois, e o gatilho de cada um</a:t>
            </a:r>
            <a:endParaRPr lang="en-US" sz="2800" dirty="0"/>
          </a:p>
        </p:txBody>
      </p:sp>
      <p:sp>
        <p:nvSpPr>
          <p:cNvPr id="3" name="card Comunidade dos Caminhoneiros"/>
          <p:cNvSpPr/>
          <p:nvPr/>
        </p:nvSpPr>
        <p:spPr>
          <a:xfrm>
            <a:off x="54864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4" name="h Comunidade dos Caminhoneiros"/>
          <p:cNvSpPr txBox="1"/>
          <p:nvPr/>
        </p:nvSpPr>
        <p:spPr>
          <a:xfrm>
            <a:off x="731520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Comunidade dos Caminhoneiros</a:t>
            </a:r>
            <a:endParaRPr lang="en-US" sz="1600" dirty="0"/>
          </a:p>
        </p:txBody>
      </p:sp>
      <p:sp>
        <p:nvSpPr>
          <p:cNvPr id="5" name="p Comunidade dos Caminhoneiros"/>
          <p:cNvSpPr txBox="1"/>
          <p:nvPr/>
        </p:nvSpPr>
        <p:spPr>
          <a:xfrm>
            <a:off x="731520" y="2148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Comunidade só de verificados, grátis, com anúncios, indicações, avaliações e encontros. Propaganda paga é a receita.</a:t>
            </a:r>
            <a:endParaRPr lang="en-US" sz="1250" dirty="0"/>
          </a:p>
        </p:txBody>
      </p:sp>
      <p:sp>
        <p:nvSpPr>
          <p:cNvPr id="6" name="g Comunidade dos Caminhoneiros"/>
          <p:cNvSpPr/>
          <p:nvPr/>
        </p:nvSpPr>
        <p:spPr>
          <a:xfrm>
            <a:off x="731520" y="37490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7" name="g txt Comunidade dos Caminhoneiros"/>
          <p:cNvSpPr txBox="1"/>
          <p:nvPr/>
        </p:nvSpPr>
        <p:spPr>
          <a:xfrm>
            <a:off x="82296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Gatilho: 300 motoristas</a:t>
            </a:r>
            <a:endParaRPr lang="en-US" sz="1100" dirty="0"/>
          </a:p>
        </p:txBody>
      </p:sp>
      <p:sp>
        <p:nvSpPr>
          <p:cNvPr id="8" name="card Google Play"/>
          <p:cNvSpPr/>
          <p:nvPr/>
        </p:nvSpPr>
        <p:spPr>
          <a:xfrm>
            <a:off x="324612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9" name="h Google Play"/>
          <p:cNvSpPr txBox="1"/>
          <p:nvPr/>
        </p:nvSpPr>
        <p:spPr>
          <a:xfrm>
            <a:off x="3429000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Google Play</a:t>
            </a:r>
            <a:endParaRPr lang="en-US" sz="1600" dirty="0"/>
          </a:p>
        </p:txBody>
      </p:sp>
      <p:sp>
        <p:nvSpPr>
          <p:cNvPr id="10" name="p Google Play"/>
          <p:cNvSpPr txBox="1"/>
          <p:nvPr/>
        </p:nvSpPr>
        <p:spPr>
          <a:xfrm>
            <a:off x="3429000" y="2148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App na loja via TWA. Domínio próprio, conta de organização e D-U-N-S já pedidos.</a:t>
            </a:r>
            <a:endParaRPr lang="en-US" sz="1250" dirty="0"/>
          </a:p>
        </p:txBody>
      </p:sp>
      <p:sp>
        <p:nvSpPr>
          <p:cNvPr id="11" name="g Google Play"/>
          <p:cNvSpPr/>
          <p:nvPr/>
        </p:nvSpPr>
        <p:spPr>
          <a:xfrm>
            <a:off x="3429000" y="37490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2" name="g txt Google Play"/>
          <p:cNvSpPr txBox="1"/>
          <p:nvPr/>
        </p:nvSpPr>
        <p:spPr>
          <a:xfrm>
            <a:off x="352044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Gatilho: domínio + conta chegarem</a:t>
            </a:r>
            <a:endParaRPr lang="en-US" sz="1100" dirty="0"/>
          </a:p>
        </p:txBody>
      </p:sp>
      <p:sp>
        <p:nvSpPr>
          <p:cNvPr id="13" name="card App Store"/>
          <p:cNvSpPr/>
          <p:nvPr/>
        </p:nvSpPr>
        <p:spPr>
          <a:xfrm>
            <a:off x="594360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4" name="h App Store"/>
          <p:cNvSpPr txBox="1"/>
          <p:nvPr/>
        </p:nvSpPr>
        <p:spPr>
          <a:xfrm>
            <a:off x="6126480" y="1463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 Store</a:t>
            </a:r>
            <a:endParaRPr lang="en-US" sz="1600" dirty="0"/>
          </a:p>
        </p:txBody>
      </p:sp>
      <p:sp>
        <p:nvSpPr>
          <p:cNvPr id="15" name="p App Store"/>
          <p:cNvSpPr txBox="1"/>
          <p:nvPr/>
        </p:nvSpPr>
        <p:spPr>
          <a:xfrm>
            <a:off x="6126480" y="2148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Só com push/câmera nativos. Antes disso o PWA cobre o iPhone.</a:t>
            </a:r>
            <a:endParaRPr lang="en-US" sz="1250" dirty="0"/>
          </a:p>
        </p:txBody>
      </p:sp>
      <p:sp>
        <p:nvSpPr>
          <p:cNvPr id="16" name="g App Store"/>
          <p:cNvSpPr/>
          <p:nvPr/>
        </p:nvSpPr>
        <p:spPr>
          <a:xfrm>
            <a:off x="6126480" y="37490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C2421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7" name="g txt App Store"/>
          <p:cNvSpPr txBox="1"/>
          <p:nvPr/>
        </p:nvSpPr>
        <p:spPr>
          <a:xfrm>
            <a:off x="621792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Gatilho: Play no ar + demanda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As 5 decisões de hoje</a:t>
            </a:r>
            <a:endParaRPr lang="en-US" sz="3200" dirty="0"/>
          </a:p>
        </p:txBody>
      </p:sp>
      <p:sp>
        <p:nvSpPr>
          <p:cNvPr id="3" name="check 1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solidFill>
            <a:srgbClr val="0B0E0D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4" name="h 1"/>
          <p:cNvSpPr txBox="1"/>
          <p:nvPr/>
        </p:nvSpPr>
        <p:spPr>
          <a:xfrm>
            <a:off x="1097280" y="12801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Aprovar o "Tenho interesse" (32 itens) e a ordem do MVP</a:t>
            </a:r>
            <a:endParaRPr lang="en-US" sz="1600" dirty="0"/>
          </a:p>
        </p:txBody>
      </p:sp>
      <p:sp>
        <p:nvSpPr>
          <p:cNvPr id="5" name="p 1"/>
          <p:cNvSpPr txBox="1"/>
          <p:nvPr/>
        </p:nvSpPr>
        <p:spPr>
          <a:xfrm>
            <a:off x="1097280" y="15727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fretes vivos → pedágio → interesse etapa 1 (com concierge e senha) → resto</a:t>
            </a:r>
            <a:endParaRPr lang="en-US" sz="1200" dirty="0"/>
          </a:p>
        </p:txBody>
      </p:sp>
      <p:sp>
        <p:nvSpPr>
          <p:cNvPr id="6" name="check 2"/>
          <p:cNvSpPr/>
          <p:nvPr/>
        </p:nvSpPr>
        <p:spPr>
          <a:xfrm>
            <a:off x="548640" y="2011680"/>
            <a:ext cx="365760" cy="365760"/>
          </a:xfrm>
          <a:prstGeom prst="rect">
            <a:avLst/>
          </a:prstGeom>
          <a:solidFill>
            <a:srgbClr val="0B0E0D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7" name="h 2"/>
          <p:cNvSpPr txBox="1"/>
          <p:nvPr/>
        </p:nvSpPr>
        <p:spPr>
          <a:xfrm>
            <a:off x="1097280" y="19202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CNH obrigatória pra se candidatar a um frete</a:t>
            </a:r>
            <a:endParaRPr lang="en-US" sz="1600" dirty="0"/>
          </a:p>
        </p:txBody>
      </p:sp>
      <p:sp>
        <p:nvSpPr>
          <p:cNvPr id="8" name="p 2"/>
          <p:cNvSpPr txBox="1"/>
          <p:nvPr/>
        </p:nvSpPr>
        <p:spPr>
          <a:xfrm>
            <a:off x="1097280" y="2212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 interesse só chega ao embarcador depois da CNH lida</a:t>
            </a:r>
            <a:endParaRPr lang="en-US" sz="1200" dirty="0"/>
          </a:p>
        </p:txBody>
      </p:sp>
      <p:sp>
        <p:nvSpPr>
          <p:cNvPr id="9" name="check 3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solidFill>
            <a:srgbClr val="0B0E0D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10" name="h 3"/>
          <p:cNvSpPr txBox="1"/>
          <p:nvPr/>
        </p:nvSpPr>
        <p:spPr>
          <a:xfrm>
            <a:off x="1097280" y="25603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Fechar a tabela do PRO</a:t>
            </a:r>
            <a:endParaRPr lang="en-US" sz="1600" dirty="0"/>
          </a:p>
        </p:txBody>
      </p:sp>
      <p:sp>
        <p:nvSpPr>
          <p:cNvPr id="11" name="p 3"/>
          <p:cNvSpPr txBox="1"/>
          <p:nvPr/>
        </p:nvSpPr>
        <p:spPr>
          <a:xfrm>
            <a:off x="1097280" y="28529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preço, limite do grátis em 5, Stripe só cartão, ligar após semeadura</a:t>
            </a:r>
            <a:endParaRPr lang="en-US" sz="1200" dirty="0"/>
          </a:p>
        </p:txBody>
      </p:sp>
      <p:sp>
        <p:nvSpPr>
          <p:cNvPr id="12" name="check 4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solidFill>
            <a:srgbClr val="0B0E0D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13" name="h 4"/>
          <p:cNvSpPr txBox="1"/>
          <p:nvPr/>
        </p:nvSpPr>
        <p:spPr>
          <a:xfrm>
            <a:off x="1097280" y="32004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Quem traz as 3 primeiras empresas pra Sofrete</a:t>
            </a:r>
            <a:endParaRPr lang="en-US" sz="1600" dirty="0"/>
          </a:p>
        </p:txBody>
      </p:sp>
      <p:sp>
        <p:nvSpPr>
          <p:cNvPr id="14" name="p 4"/>
          <p:cNvSpPr txBox="1"/>
          <p:nvPr/>
        </p:nvSpPr>
        <p:spPr>
          <a:xfrm>
            <a:off x="1097280" y="34930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sem carga viva nada do resto funciona</a:t>
            </a:r>
            <a:endParaRPr lang="en-US" sz="1200" dirty="0"/>
          </a:p>
        </p:txBody>
      </p:sp>
      <p:sp>
        <p:nvSpPr>
          <p:cNvPr id="15" name="check 5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solidFill>
            <a:srgbClr val="0B0E0D"/>
          </a:solidFill>
          <a:ln w="25400">
            <a:solidFill>
              <a:srgbClr val="F2B01E"/>
            </a:solidFill>
            <a:prstDash val="solid"/>
          </a:ln>
        </p:spPr>
      </p:sp>
      <p:sp>
        <p:nvSpPr>
          <p:cNvPr id="16" name="h 5"/>
          <p:cNvSpPr txBox="1"/>
          <p:nvPr/>
        </p:nvSpPr>
        <p:spPr>
          <a:xfrm>
            <a:off x="1097280" y="38404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Fretes: robô diário ou só Sofrete</a:t>
            </a:r>
            <a:endParaRPr lang="en-US" sz="1600" dirty="0"/>
          </a:p>
        </p:txBody>
      </p:sp>
      <p:sp>
        <p:nvSpPr>
          <p:cNvPr id="17" name="p 5"/>
          <p:cNvSpPr txBox="1"/>
          <p:nvPr/>
        </p:nvSpPr>
        <p:spPr>
          <a:xfrm>
            <a:off x="1097280" y="41330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os 810 de agosto saem do ar de qualquer jeito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Demo ao vivo</a:t>
            </a:r>
            <a:endParaRPr lang="en-US" sz="3200" dirty="0"/>
          </a:p>
        </p:txBody>
      </p:sp>
      <p:sp>
        <p:nvSpPr>
          <p:cNvPr id="3" name="cta"/>
          <p:cNvSpPr txBox="1"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Peguem o celular e mandem pro Rode com Lucro:</a:t>
            </a:r>
            <a:endParaRPr lang="en-US" sz="1600" dirty="0"/>
          </a:p>
        </p:txBody>
      </p:sp>
      <p:sp>
        <p:nvSpPr>
          <p:cNvPr id="4" name="numero"/>
          <p:cNvSpPr/>
          <p:nvPr/>
        </p:nvSpPr>
        <p:spPr>
          <a:xfrm>
            <a:off x="548640" y="187452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2B01E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5" name="numero txt"/>
          <p:cNvSpPr txBox="1"/>
          <p:nvPr/>
        </p:nvSpPr>
        <p:spPr>
          <a:xfrm>
            <a:off x="731520" y="1874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(11) 99991-9971  ·  "Sinop pra Santos, 14 mil"</a:t>
            </a:r>
            <a:endParaRPr lang="en-US" sz="2400" dirty="0"/>
          </a:p>
        </p:txBody>
      </p:sp>
      <p:sp>
        <p:nvSpPr>
          <p:cNvPr id="6" name="roteiro"/>
          <p:cNvSpPr txBox="1"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Em segundos: custo real, lucro, piso ANTT e veredito — sem instalar nada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Depois: "tem carga saindo de Cuiabá?" → lista de fretes → toque num → "Mandar pra um colega"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Manda a foto da CNH → cadastro preenchido, imagem apagada, CPF nunca lido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de com Lucro">
  <a:themeElements>
    <a:clrScheme name="Rode com Lucro">
      <a:dk1>
        <a:srgbClr val="1C2421"/>
      </a:dk1>
      <a:lt1>
        <a:srgbClr val="FFFFFF"/>
      </a:lt1>
      <a:dk2>
        <a:srgbClr val="0B0E0D"/>
      </a:dk2>
      <a:lt2>
        <a:srgbClr val="F4F1E8"/>
      </a:lt2>
      <a:accent1>
        <a:srgbClr val="F2B01E"/>
      </a:accent1>
      <a:accent2>
        <a:srgbClr val="C9901A"/>
      </a:accent2>
      <a:accent3>
        <a:srgbClr val="2FD46E"/>
      </a:accent3>
      <a:accent4>
        <a:srgbClr val="FF9F1C"/>
      </a:accent4>
      <a:accent5>
        <a:srgbClr val="FF5A5A"/>
      </a:accent5>
      <a:accent6>
        <a:srgbClr val="7E8C88"/>
      </a:accent6>
      <a:hlink>
        <a:srgbClr val="C9901A"/>
      </a:hlink>
      <a:folHlink>
        <a:srgbClr val="7E8C88"/>
      </a:folHlink>
    </a:clrScheme>
    <a:fontScheme name="Rode com Lucr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Rode com Lucro / Sofrete — reunião de sócios, out/2026</dc:title>
  <dc:subject>PptxGenJS Presentation</dc:subject>
  <dc:creator>PptxGenJS</dc:creator>
  <cp:lastModifiedBy>PptxGenJS</cp:lastModifiedBy>
  <cp:revision>1</cp:revision>
  <dcterms:created xsi:type="dcterms:W3CDTF">2026-10-15T19:54:30Z</dcterms:created>
  <dcterms:modified xsi:type="dcterms:W3CDTF">2026-10-15T19:54:30Z</dcterms:modified>
</cp:coreProperties>
</file>