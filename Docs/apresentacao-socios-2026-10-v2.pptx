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c5a9c17-7d2a-6cb1-f86c-bccecc96aa3e}">
          <p14:sldIdLst>
            <p14:sldId id="256"/>
          </p14:sldIdLst>
        </p14:section>
        <p14:section name="Onde estamos" id="{c2d95d63-3910-6480-bc37-5989e707fa99}">
          <p14:sldIdLst>
            <p14:sldId id="257"/>
          </p14:sldIdLst>
        </p14:section>
        <p14:section name="Concorrente" id="{a8eb3a2a-b9b6-fb77-c99f-954f7c0c6227}">
          <p14:sldIdLst>
            <p14:sldId id="258"/>
            <p14:sldId id="259"/>
            <p14:sldId id="260"/>
            <p14:sldId id="261"/>
          </p14:sldIdLst>
        </p14:section>
        <p14:section name="Problema e solução" id="{653e20de-1ce5-2ddc-c9bc-edf0ce94c23f}">
          <p14:sldIdLst>
            <p14:sldId id="262"/>
            <p14:sldId id="263"/>
            <p14:sldId id="264"/>
          </p14:sldIdLst>
        </p14:section>
        <p14:section name="Plano" id="{5f5f70b8-b297-b956-d2f7-01cb79b48e59}">
          <p14:sldIdLst>
            <p14:sldId id="265"/>
            <p14:sldId id="266"/>
            <p14:sldId id="267"/>
          </p14:sldIdLst>
        </p14:section>
        <p14:section name="Decisões" id="{8fc5e723-4880-e6fe-babf-d9f43092b6b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Reunião de decisão, não de informação. Mostrar números crus, concorrente, problema do telefone, solução, ordem do MVP, decisões. Fechar com demo no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banco em 12/10. 21 motoristas reais (sem os números de teste). Gate 1/160 = só 1 motorista completou a jornada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Fretes: rolei até o fim, 10 ofertas, texto colado de grupo de WhatsApp com link do grupo. Tô vazio é a única área viva. Golpe: golpista chama quem se declara vazio e pede taxa da seguradora.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Placar honesto: eles ganham em presença (loja, tô vazio, brique). Nós ganhamos onde o dinheiro está: canal, cálculo, contato e confiança. Fretes velhos é o nosso ponto fraco — igual ao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Ressalva: foto de domingo, do que aparece na tela. Não sabemos a receita deles. Mas pra decidir o nosso MVP a conclusão fica de 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Prints do teste real de 13/10. Fretebras é o incumbente: tem a carga e o dinheiro. Não competimos no pagamento; competimos no canal (WhatsApp), no cálculo honesto e na confiança barata (CNH + indicação + RNTRC).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Conversa pessoa-pra-pessoa, fora do nosso número: compatível com a Meta. Depois que a empresa se cadastra com opt-in, o bot pode avisá-la por template e o fluxo segue por dentro da Sofrete.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vem da conclusão do concorrente: carga primeiro. Tô vazio só depois de ter frete vivo, senão vira cidade fantasma.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dormente: migration aplicada, functions stripe-webhook e assinar, bot ASSINAR/PLANO, card no app. Nada aparece sem as chaves do Stripe. Precisa: fechar a tabela, abrir a conta Stripe, contador pra NFS-e.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demo vale mais que os slides. Deixar cada sócio mandar a própria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B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Rode com Lucro · Sofrete — reunião de sócios, outubro/2026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Rode com Lucro · Sofrete — reunião de sócios, outubro/2026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Rode com Lucro · Sofrete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Onde estamos, o que aprendemos com os concorrentes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 o que precisamos decidir</a:t>
            </a:r>
            <a:endParaRPr lang="en-US" sz="2400" dirty="0"/>
          </a:p>
        </p:txBody>
      </p:sp>
      <p:sp>
        <p:nvSpPr>
          <p:cNvPr id="4" name="data"/>
          <p:cNvSpPr txBox="1"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Reunião de sócios · outubro de 2026 · 45 min + demo ao vivo</a:t>
            </a:r>
            <a:endParaRPr lang="en-US" sz="1400" dirty="0"/>
          </a:p>
        </p:txBody>
      </p:sp>
      <p:sp>
        <p:nvSpPr>
          <p:cNvPr id="5" name="chamada"/>
          <p:cNvSpPr/>
          <p:nvPr/>
        </p:nvSpPr>
        <p:spPr>
          <a:xfrm>
            <a:off x="548640" y="338328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chamada txt"/>
          <p:cNvSpPr txBox="1"/>
          <p:nvPr/>
        </p:nvSpPr>
        <p:spPr>
          <a:xfrm>
            <a:off x="68580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Saímos daqui com 5 decisões tomadas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Onde estamos hoje</a:t>
            </a:r>
            <a:endParaRPr lang="en-US" sz="2800" dirty="0"/>
          </a:p>
        </p:txBody>
      </p:sp>
      <p:sp>
        <p:nvSpPr>
          <p:cNvPr id="3" name="card motoristas cadastrados"/>
          <p:cNvSpPr/>
          <p:nvPr/>
        </p:nvSpPr>
        <p:spPr>
          <a:xfrm>
            <a:off x="5486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stat motoristas cadastrados"/>
          <p:cNvSpPr txBox="1"/>
          <p:nvPr/>
        </p:nvSpPr>
        <p:spPr>
          <a:xfrm>
            <a:off x="6858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5" name="label motoristas cadastrados"/>
          <p:cNvSpPr txBox="1"/>
          <p:nvPr/>
        </p:nvSpPr>
        <p:spPr>
          <a:xfrm>
            <a:off x="6858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motoristas cadastrados</a:t>
            </a:r>
            <a:endParaRPr lang="en-US" sz="1100" dirty="0"/>
          </a:p>
        </p:txBody>
      </p:sp>
      <p:sp>
        <p:nvSpPr>
          <p:cNvPr id="6" name="card consultas pelo WhatsApp"/>
          <p:cNvSpPr/>
          <p:nvPr/>
        </p:nvSpPr>
        <p:spPr>
          <a:xfrm>
            <a:off x="26060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stat consultas pelo WhatsApp"/>
          <p:cNvSpPr txBox="1"/>
          <p:nvPr/>
        </p:nvSpPr>
        <p:spPr>
          <a:xfrm>
            <a:off x="27432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3000" dirty="0"/>
          </a:p>
        </p:txBody>
      </p:sp>
      <p:sp>
        <p:nvSpPr>
          <p:cNvPr id="8" name="label consultas pelo WhatsApp"/>
          <p:cNvSpPr txBox="1"/>
          <p:nvPr/>
        </p:nvSpPr>
        <p:spPr>
          <a:xfrm>
            <a:off x="27432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consultas pelo WhatsApp</a:t>
            </a:r>
            <a:endParaRPr lang="en-US" sz="1100" dirty="0"/>
          </a:p>
        </p:txBody>
      </p:sp>
      <p:sp>
        <p:nvSpPr>
          <p:cNvPr id="9" name="card análises no app"/>
          <p:cNvSpPr/>
          <p:nvPr/>
        </p:nvSpPr>
        <p:spPr>
          <a:xfrm>
            <a:off x="46634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stat análises no app"/>
          <p:cNvSpPr txBox="1"/>
          <p:nvPr/>
        </p:nvSpPr>
        <p:spPr>
          <a:xfrm>
            <a:off x="48006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3000" dirty="0"/>
          </a:p>
        </p:txBody>
      </p:sp>
      <p:sp>
        <p:nvSpPr>
          <p:cNvPr id="11" name="label análises no app"/>
          <p:cNvSpPr txBox="1"/>
          <p:nvPr/>
        </p:nvSpPr>
        <p:spPr>
          <a:xfrm>
            <a:off x="48006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análises no app</a:t>
            </a:r>
            <a:endParaRPr lang="en-US" sz="1100" dirty="0"/>
          </a:p>
        </p:txBody>
      </p:sp>
      <p:sp>
        <p:nvSpPr>
          <p:cNvPr id="12" name="card gate de validação"/>
          <p:cNvSpPr/>
          <p:nvPr/>
        </p:nvSpPr>
        <p:spPr>
          <a:xfrm>
            <a:off x="6720840" y="12344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3" name="stat gate de validação"/>
          <p:cNvSpPr txBox="1"/>
          <p:nvPr/>
        </p:nvSpPr>
        <p:spPr>
          <a:xfrm>
            <a:off x="685800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160</a:t>
            </a:r>
            <a:endParaRPr lang="en-US" sz="3000" dirty="0"/>
          </a:p>
        </p:txBody>
      </p:sp>
      <p:sp>
        <p:nvSpPr>
          <p:cNvPr id="14" name="label gate de validação"/>
          <p:cNvSpPr txBox="1"/>
          <p:nvPr/>
        </p:nvSpPr>
        <p:spPr>
          <a:xfrm>
            <a:off x="6858000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gate de validação</a:t>
            </a:r>
            <a:endParaRPr lang="en-US" sz="1100" dirty="0"/>
          </a:p>
        </p:txBody>
      </p:sp>
      <p:sp>
        <p:nvSpPr>
          <p:cNvPr id="15" name="no ar h"/>
          <p:cNvSpPr txBox="1"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ar</a:t>
            </a:r>
            <a:endParaRPr lang="en-US" sz="1600" dirty="0"/>
          </a:p>
        </p:txBody>
      </p:sp>
      <p:sp>
        <p:nvSpPr>
          <p:cNvPr id="16" name="no ar lista"/>
          <p:cNvSpPr txBox="1"/>
          <p:nvPr/>
        </p:nvSpPr>
        <p:spPr>
          <a:xfrm>
            <a:off x="548640" y="30175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 no WhatsApp (v88): calcula, cota, busca frete, lê CNH/CRLV por foto, memória da conversa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 do motorista com barra de abas, custo real, piso ANTT, pneus por eixo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Sofrete: empresa publica, pausa e fecha frete; painel admin com moderação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Compartilhar frete com um colega + indicação (viral) — no ar desde 09/10</a:t>
            </a:r>
            <a:endParaRPr lang="en-US" sz="1300" dirty="0"/>
          </a:p>
        </p:txBody>
      </p:sp>
      <p:sp>
        <p:nvSpPr>
          <p:cNvPr id="17" name="alerta"/>
          <p:cNvSpPr/>
          <p:nvPr/>
        </p:nvSpPr>
        <p:spPr>
          <a:xfrm>
            <a:off x="5943600" y="2697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alerta h"/>
          <p:cNvSpPr txBox="1"/>
          <p:nvPr/>
        </p:nvSpPr>
        <p:spPr>
          <a:xfrm>
            <a:off x="61264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 gargalo é aquisição</a:t>
            </a:r>
            <a:endParaRPr lang="en-US" sz="1500" dirty="0"/>
          </a:p>
        </p:txBody>
      </p:sp>
      <p:sp>
        <p:nvSpPr>
          <p:cNvPr id="19" name="alerta p"/>
          <p:cNvSpPr txBox="1"/>
          <p:nvPr/>
        </p:nvSpPr>
        <p:spPr>
          <a:xfrm>
            <a:off x="612648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810 fretes na base são de agosto (importados). 3 empresas cadastradas. Tudo que vem a seguir ataca isso.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Zé Boléia por dentro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App nas lojas, só app (sem WhatsApp). Calculadora vs. ANTT, controle de viagens e uma comunidade com 8 abas. Medido na tela em 12/10/2026.</a:t>
            </a:r>
            <a:endParaRPr lang="en-US" sz="1300" dirty="0"/>
          </a:p>
        </p:txBody>
      </p:sp>
      <p:sp>
        <p:nvSpPr>
          <p:cNvPr id="4" name="card downloads · nota 3,6"/>
          <p:cNvSpPr/>
          <p:nvPr/>
        </p:nvSpPr>
        <p:spPr>
          <a:xfrm>
            <a:off x="5486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stat downloads · nota 3,6"/>
          <p:cNvSpPr txBox="1"/>
          <p:nvPr/>
        </p:nvSpPr>
        <p:spPr>
          <a:xfrm>
            <a:off x="6858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mil+</a:t>
            </a:r>
            <a:endParaRPr lang="en-US" sz="2600" dirty="0"/>
          </a:p>
        </p:txBody>
      </p:sp>
      <p:sp>
        <p:nvSpPr>
          <p:cNvPr id="6" name="label downloads · nota 3,6"/>
          <p:cNvSpPr txBox="1"/>
          <p:nvPr/>
        </p:nvSpPr>
        <p:spPr>
          <a:xfrm>
            <a:off x="6858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downloads · nota 3,6</a:t>
            </a:r>
            <a:endParaRPr lang="en-US" sz="1100" dirty="0"/>
          </a:p>
        </p:txBody>
      </p:sp>
      <p:sp>
        <p:nvSpPr>
          <p:cNvPr id="7" name="card fretes abertos (4 agenciadores)"/>
          <p:cNvSpPr/>
          <p:nvPr/>
        </p:nvSpPr>
        <p:spPr>
          <a:xfrm>
            <a:off x="26060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stat fretes abertos (4 agenciadores)"/>
          <p:cNvSpPr txBox="1"/>
          <p:nvPr/>
        </p:nvSpPr>
        <p:spPr>
          <a:xfrm>
            <a:off x="27432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label fretes abertos (4 agenciadores)"/>
          <p:cNvSpPr txBox="1"/>
          <p:nvPr/>
        </p:nvSpPr>
        <p:spPr>
          <a:xfrm>
            <a:off x="27432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fretes abertos (4 agenciadores)</a:t>
            </a:r>
            <a:endParaRPr lang="en-US" sz="1100" dirty="0"/>
          </a:p>
        </p:txBody>
      </p:sp>
      <p:sp>
        <p:nvSpPr>
          <p:cNvPr id="10" name="card motoristas &quot;tô vazio&quot; em 24 h"/>
          <p:cNvSpPr/>
          <p:nvPr/>
        </p:nvSpPr>
        <p:spPr>
          <a:xfrm>
            <a:off x="46634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1" name="stat motoristas &amp;quot;tô vazio&amp;quot; em 24 h"/>
          <p:cNvSpPr txBox="1"/>
          <p:nvPr/>
        </p:nvSpPr>
        <p:spPr>
          <a:xfrm>
            <a:off x="48006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000" dirty="0"/>
          </a:p>
        </p:txBody>
      </p:sp>
      <p:sp>
        <p:nvSpPr>
          <p:cNvPr id="12" name="label motoristas &amp;quot;tô vazio&amp;quot; em 24 h"/>
          <p:cNvSpPr txBox="1"/>
          <p:nvPr/>
        </p:nvSpPr>
        <p:spPr>
          <a:xfrm>
            <a:off x="48006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motoristas "tô vazio" em 24 h</a:t>
            </a:r>
            <a:endParaRPr lang="en-US" sz="1100" dirty="0"/>
          </a:p>
        </p:txBody>
      </p:sp>
      <p:sp>
        <p:nvSpPr>
          <p:cNvPr id="13" name="card anúncios no Brique (~1/dia)"/>
          <p:cNvSpPr/>
          <p:nvPr/>
        </p:nvSpPr>
        <p:spPr>
          <a:xfrm>
            <a:off x="6720840" y="17373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stat anúncios no Brique (~1/dia)"/>
          <p:cNvSpPr txBox="1"/>
          <p:nvPr/>
        </p:nvSpPr>
        <p:spPr>
          <a:xfrm>
            <a:off x="6858000" y="18288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3000" dirty="0"/>
          </a:p>
        </p:txBody>
      </p:sp>
      <p:sp>
        <p:nvSpPr>
          <p:cNvPr id="15" name="label anúncios no Brique (~1/dia)"/>
          <p:cNvSpPr txBox="1"/>
          <p:nvPr/>
        </p:nvSpPr>
        <p:spPr>
          <a:xfrm>
            <a:off x="685800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anúncios no Brique (~1/dia)</a:t>
            </a:r>
            <a:endParaRPr lang="en-US" sz="1100" dirty="0"/>
          </a:p>
        </p:txBody>
      </p:sp>
      <p:sp>
        <p:nvSpPr>
          <p:cNvPr id="16" name="card postos de diesel informados"/>
          <p:cNvSpPr/>
          <p:nvPr/>
        </p:nvSpPr>
        <p:spPr>
          <a:xfrm>
            <a:off x="5486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stat postos de diesel informados"/>
          <p:cNvSpPr txBox="1"/>
          <p:nvPr/>
        </p:nvSpPr>
        <p:spPr>
          <a:xfrm>
            <a:off x="6858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label postos de diesel informados"/>
          <p:cNvSpPr txBox="1"/>
          <p:nvPr/>
        </p:nvSpPr>
        <p:spPr>
          <a:xfrm>
            <a:off x="6858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postos de diesel informados</a:t>
            </a:r>
            <a:endParaRPr lang="en-US" sz="1100" dirty="0"/>
          </a:p>
        </p:txBody>
      </p:sp>
      <p:sp>
        <p:nvSpPr>
          <p:cNvPr id="19" name="card posts no feed em 17 dias"/>
          <p:cNvSpPr/>
          <p:nvPr/>
        </p:nvSpPr>
        <p:spPr>
          <a:xfrm>
            <a:off x="26060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0" name="stat posts no feed em 17 dias"/>
          <p:cNvSpPr txBox="1"/>
          <p:nvPr/>
        </p:nvSpPr>
        <p:spPr>
          <a:xfrm>
            <a:off x="27432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000" dirty="0"/>
          </a:p>
        </p:txBody>
      </p:sp>
      <p:sp>
        <p:nvSpPr>
          <p:cNvPr id="21" name="label posts no feed em 17 dias"/>
          <p:cNvSpPr txBox="1"/>
          <p:nvPr/>
        </p:nvSpPr>
        <p:spPr>
          <a:xfrm>
            <a:off x="27432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posts no feed em 17 dias</a:t>
            </a:r>
            <a:endParaRPr lang="en-US" sz="1100" dirty="0"/>
          </a:p>
        </p:txBody>
      </p:sp>
      <p:sp>
        <p:nvSpPr>
          <p:cNvPr id="22" name="card relatos de golpe em 17 dias"/>
          <p:cNvSpPr/>
          <p:nvPr/>
        </p:nvSpPr>
        <p:spPr>
          <a:xfrm>
            <a:off x="46634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3" name="stat relatos de golpe em 17 dias"/>
          <p:cNvSpPr txBox="1"/>
          <p:nvPr/>
        </p:nvSpPr>
        <p:spPr>
          <a:xfrm>
            <a:off x="48006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24" name="label relatos de golpe em 17 dias"/>
          <p:cNvSpPr txBox="1"/>
          <p:nvPr/>
        </p:nvSpPr>
        <p:spPr>
          <a:xfrm>
            <a:off x="48006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relatos de golpe em 17 dias</a:t>
            </a:r>
            <a:endParaRPr lang="en-US" sz="1100" dirty="0"/>
          </a:p>
        </p:txBody>
      </p:sp>
      <p:sp>
        <p:nvSpPr>
          <p:cNvPr id="25" name="card parceiros ativos no clube"/>
          <p:cNvSpPr/>
          <p:nvPr/>
        </p:nvSpPr>
        <p:spPr>
          <a:xfrm>
            <a:off x="6720840" y="30632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6" name="stat parceiros ativos no clube"/>
          <p:cNvSpPr txBox="1"/>
          <p:nvPr/>
        </p:nvSpPr>
        <p:spPr>
          <a:xfrm>
            <a:off x="6858000" y="3154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label parceiros ativos no clube"/>
          <p:cNvSpPr txBox="1"/>
          <p:nvPr/>
        </p:nvSpPr>
        <p:spPr>
          <a:xfrm>
            <a:off x="6858000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parceiros ativos no clube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Lado a lado: os dois concorrentes e nós</a:t>
            </a:r>
            <a:endParaRPr lang="en-US" sz="2800" dirty="0"/>
          </a:p>
        </p:txBody>
      </p:sp>
      <p:graphicFrame>
        <p:nvGraphicFramePr>
          <p:cNvPr id="5" name="tabela lado a l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240280"/>
                <a:gridCol w="2240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Zé Boléia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Fretebras (motorista)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Rode com Lucro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app; bloqueia 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WhatsApp + web +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vs. ANTT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Calculadora simples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Custo real, lucro, veredito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10, de agenciador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Muitos (é o incumbente)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810 de agosto (velhos)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Chat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Chat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Direto ou WhatsApp do motorista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Opcional; golpe no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Pesada: ANTT, PIX, selfie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CNH por foto + indicação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Reputação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Não 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no VIP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Grátis (proposta)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Não 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Carteira, antecipação, garantia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Fora do escopo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Clube sem parceiros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VIP: vê frete antes, destaque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PRO (igual ao VIP) — pronto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Por que o frete deles não decolou</a:t>
            </a:r>
            <a:endParaRPr lang="en-US" sz="3200" dirty="0"/>
          </a:p>
        </p:txBody>
      </p:sp>
      <p:sp>
        <p:nvSpPr>
          <p:cNvPr id="3" name="num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num txt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h 1"/>
          <p:cNvSpPr txBox="1"/>
          <p:nvPr/>
        </p:nvSpPr>
        <p:spPr>
          <a:xfrm>
            <a:off x="118872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Pediram pro mercado se mudar</a:t>
            </a:r>
            <a:endParaRPr lang="en-US" sz="1400" dirty="0"/>
          </a:p>
        </p:txBody>
      </p:sp>
      <p:sp>
        <p:nvSpPr>
          <p:cNvPr id="6" name="p 1"/>
          <p:cNvSpPr txBox="1"/>
          <p:nvPr/>
        </p:nvSpPr>
        <p:spPr>
          <a:xfrm>
            <a:off x="402336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 frete vive nos grupos de WhatsApp. Eles copiaram o grupo numa tela e pediram pro caminhoneiro olhar outra tela.</a:t>
            </a:r>
            <a:endParaRPr lang="en-US" sz="1200" dirty="0"/>
          </a:p>
        </p:txBody>
      </p:sp>
      <p:sp>
        <p:nvSpPr>
          <p:cNvPr id="7" name="num 2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num txt 2"/>
          <p:cNvSpPr txBox="1"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h 2"/>
          <p:cNvSpPr txBox="1"/>
          <p:nvPr/>
        </p:nvSpPr>
        <p:spPr>
          <a:xfrm>
            <a:off x="118872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Marketplace sem o lado da carga</a:t>
            </a:r>
            <a:endParaRPr lang="en-US" sz="1400" dirty="0"/>
          </a:p>
        </p:txBody>
      </p:sp>
      <p:sp>
        <p:nvSpPr>
          <p:cNvPr id="10" name="p 2"/>
          <p:cNvSpPr txBox="1"/>
          <p:nvPr/>
        </p:nvSpPr>
        <p:spPr>
          <a:xfrm>
            <a:off x="402336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Tem motorista (lado fácil), não tem embarcador. O agenciador preenche o vazio — e posta onde já posta.</a:t>
            </a:r>
            <a:endParaRPr lang="en-US" sz="1200" dirty="0"/>
          </a:p>
        </p:txBody>
      </p:sp>
      <p:sp>
        <p:nvSpPr>
          <p:cNvPr id="11" name="num 3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num txt 3"/>
          <p:cNvSpPr txBox="1"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h 3"/>
          <p:cNvSpPr txBox="1"/>
          <p:nvPr/>
        </p:nvSpPr>
        <p:spPr>
          <a:xfrm>
            <a:off x="1188720" y="2551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Confiança zero</a:t>
            </a:r>
            <a:endParaRPr lang="en-US" sz="1400" dirty="0"/>
          </a:p>
        </p:txBody>
      </p:sp>
      <p:sp>
        <p:nvSpPr>
          <p:cNvPr id="14" name="p 3"/>
          <p:cNvSpPr txBox="1"/>
          <p:nvPr/>
        </p:nvSpPr>
        <p:spPr>
          <a:xfrm>
            <a:off x="4023360" y="2551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Qualquer número entra e chama. O feed virou mural de golpe em 17 dias.</a:t>
            </a:r>
            <a:endParaRPr lang="en-US" sz="1200" dirty="0"/>
          </a:p>
        </p:txBody>
      </p:sp>
      <p:sp>
        <p:nvSpPr>
          <p:cNvPr id="15" name="num 4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num txt 4"/>
          <p:cNvSpPr txBox="1"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h 4"/>
          <p:cNvSpPr txBox="1"/>
          <p:nvPr/>
        </p:nvSpPr>
        <p:spPr>
          <a:xfrm>
            <a:off x="118872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Largura em vez de profundidade</a:t>
            </a:r>
            <a:endParaRPr lang="en-US" sz="1400" dirty="0"/>
          </a:p>
        </p:txBody>
      </p:sp>
      <p:sp>
        <p:nvSpPr>
          <p:cNvPr id="18" name="p 4"/>
          <p:cNvSpPr txBox="1"/>
          <p:nvPr/>
        </p:nvSpPr>
        <p:spPr>
          <a:xfrm>
            <a:off x="402336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Oito abas, três vazias. A calculadora, que seria o núcleo, não diz se dá lucro.</a:t>
            </a:r>
            <a:endParaRPr lang="en-US" sz="1200" dirty="0"/>
          </a:p>
        </p:txBody>
      </p:sp>
      <p:sp>
        <p:nvSpPr>
          <p:cNvPr id="19" name="num 5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num txt 5"/>
          <p:cNvSpPr txBox="1"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h 5"/>
          <p:cNvSpPr txBox="1"/>
          <p:nvPr/>
        </p:nvSpPr>
        <p:spPr>
          <a:xfrm>
            <a:off x="1188720" y="3867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Monetização antes da massa</a:t>
            </a:r>
            <a:endParaRPr lang="en-US" sz="1400" dirty="0"/>
          </a:p>
        </p:txBody>
      </p:sp>
      <p:sp>
        <p:nvSpPr>
          <p:cNvPr id="22" name="p 5"/>
          <p:cNvSpPr txBox="1"/>
          <p:nvPr/>
        </p:nvSpPr>
        <p:spPr>
          <a:xfrm>
            <a:off x="4023360" y="3867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Clube de descontos sem nenhum parceiro ativo. Sem receita, sem fôlego.</a:t>
            </a:r>
            <a:endParaRPr lang="en-US" sz="1200" dirty="0"/>
          </a:p>
        </p:txBody>
      </p:sp>
      <p:sp>
        <p:nvSpPr>
          <p:cNvPr id="23" name="takeaway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A carga é o gargalo deles — e vai ser o nosso.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Fretebras por dentro (lado do motorista)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Teste real de um sócio em 13/10. Só app nativo, sem web e sem WhatsApp.</a:t>
            </a:r>
            <a:endParaRPr lang="en-US" sz="1300" dirty="0"/>
          </a:p>
        </p:txBody>
      </p:sp>
      <p:sp>
        <p:nvSpPr>
          <p:cNvPr id="4" name="f Verificação pesada"/>
          <p:cNvSpPr/>
          <p:nvPr/>
        </p:nvSpPr>
        <p:spPr>
          <a:xfrm>
            <a:off x="548640" y="150876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fh Verificação pesada"/>
          <p:cNvSpPr txBox="1"/>
          <p:nvPr/>
        </p:nvSpPr>
        <p:spPr>
          <a:xfrm>
            <a:off x="731520" y="15636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Verificação pesada</a:t>
            </a:r>
            <a:endParaRPr lang="en-US" sz="1300" dirty="0"/>
          </a:p>
        </p:txBody>
      </p:sp>
      <p:sp>
        <p:nvSpPr>
          <p:cNvPr id="6" name="fp Verificação pesada"/>
          <p:cNvSpPr txBox="1"/>
          <p:nvPr/>
        </p:nvSpPr>
        <p:spPr>
          <a:xfrm>
            <a:off x="731520" y="18105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ANTT consultada na hora (acusa titular diferente), CNH, endereço, PIX confirmado, selfie, localização.</a:t>
            </a:r>
            <a:endParaRPr lang="en-US" sz="1050" dirty="0"/>
          </a:p>
        </p:txBody>
      </p:sp>
      <p:sp>
        <p:nvSpPr>
          <p:cNvPr id="7" name="f O produto é pagamento"/>
          <p:cNvSpPr/>
          <p:nvPr/>
        </p:nvSpPr>
        <p:spPr>
          <a:xfrm>
            <a:off x="548640" y="225856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fh O produto é pagamento"/>
          <p:cNvSpPr txBox="1"/>
          <p:nvPr/>
        </p:nvSpPr>
        <p:spPr>
          <a:xfrm>
            <a:off x="731520" y="23134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produto é pagamento</a:t>
            </a:r>
            <a:endParaRPr lang="en-US" sz="1300" dirty="0"/>
          </a:p>
        </p:txBody>
      </p:sp>
      <p:sp>
        <p:nvSpPr>
          <p:cNvPr id="9" name="fp O produto é pagamento"/>
          <p:cNvSpPr txBox="1"/>
          <p:nvPr/>
        </p:nvSpPr>
        <p:spPr>
          <a:xfrm>
            <a:off x="731520" y="2560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Carteira, antecipação de saldo (R$ 3 mil pré-aprovado), garantia contra calote. A viagem só conta quando o PIX passa por eles.</a:t>
            </a:r>
            <a:endParaRPr lang="en-US" sz="1050" dirty="0"/>
          </a:p>
        </p:txBody>
      </p:sp>
      <p:sp>
        <p:nvSpPr>
          <p:cNvPr id="10" name="f VIP = nosso PRO"/>
          <p:cNvSpPr/>
          <p:nvPr/>
        </p:nvSpPr>
        <p:spPr>
          <a:xfrm>
            <a:off x="548640" y="300837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1" name="fh VIP = nosso PRO"/>
          <p:cNvSpPr txBox="1"/>
          <p:nvPr/>
        </p:nvSpPr>
        <p:spPr>
          <a:xfrm>
            <a:off x="731520" y="3063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VIP = nosso PRO</a:t>
            </a:r>
            <a:endParaRPr lang="en-US" sz="1300" dirty="0"/>
          </a:p>
        </p:txBody>
      </p:sp>
      <p:sp>
        <p:nvSpPr>
          <p:cNvPr id="12" name="fp VIP = nosso PRO"/>
          <p:cNvSpPr txBox="1"/>
          <p:nvPr/>
        </p:nvSpPr>
        <p:spPr>
          <a:xfrm>
            <a:off x="731520" y="3310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Ver frete antes, perfil em destaque, ver reputação da empresa. Valida o desenho do PRO.</a:t>
            </a:r>
            <a:endParaRPr lang="en-US" sz="1050" dirty="0"/>
          </a:p>
        </p:txBody>
      </p:sp>
      <p:sp>
        <p:nvSpPr>
          <p:cNvPr id="13" name="f Contato e print"/>
          <p:cNvSpPr/>
          <p:nvPr/>
        </p:nvSpPr>
        <p:spPr>
          <a:xfrm>
            <a:off x="548640" y="375818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fh Contato e print"/>
          <p:cNvSpPr txBox="1"/>
          <p:nvPr/>
        </p:nvSpPr>
        <p:spPr>
          <a:xfrm>
            <a:off x="731520" y="3813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Contato e print</a:t>
            </a:r>
            <a:endParaRPr lang="en-US" sz="1300" dirty="0"/>
          </a:p>
        </p:txBody>
      </p:sp>
      <p:sp>
        <p:nvSpPr>
          <p:cNvPr id="15" name="fp Contato e print"/>
          <p:cNvSpPr txBox="1"/>
          <p:nvPr/>
        </p:nvSpPr>
        <p:spPr>
          <a:xfrm>
            <a:off x="731520" y="40599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Chat interno esconde o telefone; print da lista sai em branco. Eles guardam o frete; nós espalhamos.</a:t>
            </a:r>
            <a:endParaRPr lang="en-US" sz="1050" dirty="0"/>
          </a:p>
        </p:txBody>
      </p:sp>
      <p:sp>
        <p:nvSpPr>
          <p:cNvPr id="16" name="copiar"/>
          <p:cNvSpPr/>
          <p:nvPr/>
        </p:nvSpPr>
        <p:spPr>
          <a:xfrm>
            <a:off x="5669280" y="1508760"/>
            <a:ext cx="2926080" cy="2999232"/>
          </a:xfrm>
          <a:prstGeom prst="roundRect">
            <a:avLst>
              <a:gd name="adj" fmla="val 2500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copiar h"/>
          <p:cNvSpPr txBox="1"/>
          <p:nvPr/>
        </p:nvSpPr>
        <p:spPr>
          <a:xfrm>
            <a:off x="58521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que copiamos (barato)</a:t>
            </a:r>
            <a:endParaRPr lang="en-US" sz="1400" dirty="0"/>
          </a:p>
        </p:txBody>
      </p:sp>
      <p:sp>
        <p:nvSpPr>
          <p:cNvPr id="18" name="copiar lista"/>
          <p:cNvSpPr txBox="1"/>
          <p:nvPr/>
        </p:nvSpPr>
        <p:spPr>
          <a:xfrm>
            <a:off x="5852160" y="201168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RNTRC no cartão verificado (o embarcador precisa pro CIOT)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Foto do caminhão, opcional, só pra empresa aprovada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"Quer que as empresas te vejam?" na hora da busca — o tô vazio sem aba nova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Reputação da empresa grátis (lá é VIP pago)</a:t>
            </a:r>
            <a:endParaRPr lang="en-US" sz="1150" dirty="0"/>
          </a:p>
        </p:txBody>
      </p:sp>
      <p:sp>
        <p:nvSpPr>
          <p:cNvPr id="19" name="nao"/>
          <p:cNvSpPr txBox="1"/>
          <p:nvPr/>
        </p:nvSpPr>
        <p:spPr>
          <a:xfrm>
            <a:off x="58521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Não copiamos: carteira (financeiro regulado), selfie e comprovante (atrito), bloqueio de print, chat interno.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problema: o telefone do contratante</a:t>
            </a:r>
            <a:endParaRPr lang="en-US" sz="2800" dirty="0"/>
          </a:p>
        </p:txBody>
      </p:sp>
      <p:sp>
        <p:nvSpPr>
          <p:cNvPr id="3" name="hoje"/>
          <p:cNvSpPr/>
          <p:nvPr/>
        </p:nvSpPr>
        <p:spPr>
          <a:xfrm>
            <a:off x="548640" y="123444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hoje h"/>
          <p:cNvSpPr txBox="1"/>
          <p:nvPr/>
        </p:nvSpPr>
        <p:spPr>
          <a:xfrm>
            <a:off x="777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Hoje</a:t>
            </a:r>
            <a:endParaRPr lang="en-US" sz="1800" dirty="0"/>
          </a:p>
        </p:txBody>
      </p:sp>
      <p:sp>
        <p:nvSpPr>
          <p:cNvPr id="5" name="hoje lista"/>
          <p:cNvSpPr txBox="1"/>
          <p:nvPr/>
        </p:nvSpPr>
        <p:spPr>
          <a:xfrm>
            <a:off x="7772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Mostramos o telefone de todo frete, no bot e no app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Quando a empresa publicar pela Sofrete, ela decide se o telefone aparece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não aparecer, motorista e empresa não têm como falar</a:t>
            </a:r>
            <a:endParaRPr lang="en-US" sz="1300" dirty="0"/>
          </a:p>
        </p:txBody>
      </p:sp>
      <p:sp>
        <p:nvSpPr>
          <p:cNvPr id="6" name="descartado"/>
          <p:cNvSpPr/>
          <p:nvPr/>
        </p:nvSpPr>
        <p:spPr>
          <a:xfrm>
            <a:off x="4754880" y="123444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desc h"/>
          <p:cNvSpPr txBox="1"/>
          <p:nvPr/>
        </p:nvSpPr>
        <p:spPr>
          <a:xfrm>
            <a:off x="4983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descartamos</a:t>
            </a:r>
            <a:endParaRPr lang="en-US" sz="1800" dirty="0"/>
          </a:p>
        </p:txBody>
      </p:sp>
      <p:sp>
        <p:nvSpPr>
          <p:cNvPr id="8" name="desc lista"/>
          <p:cNvSpPr txBox="1"/>
          <p:nvPr/>
        </p:nvSpPr>
        <p:spPr>
          <a:xfrm>
            <a:off x="498348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Chat interno completo: ~6 dias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Dependeria de o caminhoneiro abrir o app pra ler a resposta — o Zé Boléia prova que ele não abre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Mandar WhatsApp pra empresa que não nos conhece: a Meta exige opt-in; disparo frio derruba a nota do número e corta o bot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solução: "Tenho interesse"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 motorista se candidata e entrega o contato dele, verificado. O embarcador escolhe e chama.</a:t>
            </a:r>
            <a:endParaRPr lang="en-US" sz="1300" dirty="0"/>
          </a:p>
        </p:txBody>
      </p:sp>
      <p:sp>
        <p:nvSpPr>
          <p:cNvPr id="4" name="passo 1"/>
          <p:cNvSpPr/>
          <p:nvPr/>
        </p:nvSpPr>
        <p:spPr>
          <a:xfrm>
            <a:off x="5486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n 1"/>
          <p:cNvSpPr txBox="1"/>
          <p:nvPr/>
        </p:nvSpPr>
        <p:spPr>
          <a:xfrm>
            <a:off x="6400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h 1"/>
          <p:cNvSpPr txBox="1"/>
          <p:nvPr/>
        </p:nvSpPr>
        <p:spPr>
          <a:xfrm>
            <a:off x="6400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Tenho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interesse</a:t>
            </a:r>
            <a:endParaRPr lang="en-US" sz="1300" dirty="0"/>
          </a:p>
        </p:txBody>
      </p:sp>
      <p:sp>
        <p:nvSpPr>
          <p:cNvPr id="7" name="p 1"/>
          <p:cNvSpPr txBox="1"/>
          <p:nvPr/>
        </p:nvSpPr>
        <p:spPr>
          <a:xfrm>
            <a:off x="6400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no bot ou no app</a:t>
            </a:r>
            <a:endParaRPr lang="en-US" sz="950" dirty="0"/>
          </a:p>
        </p:txBody>
      </p:sp>
      <p:sp>
        <p:nvSpPr>
          <p:cNvPr id="8" name="seta 1"/>
          <p:cNvSpPr/>
          <p:nvPr/>
        </p:nvSpPr>
        <p:spPr>
          <a:xfrm>
            <a:off x="17556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passo 2"/>
          <p:cNvSpPr/>
          <p:nvPr/>
        </p:nvSpPr>
        <p:spPr>
          <a:xfrm>
            <a:off x="19202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n 2"/>
          <p:cNvSpPr txBox="1"/>
          <p:nvPr/>
        </p:nvSpPr>
        <p:spPr>
          <a:xfrm>
            <a:off x="20116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h 2"/>
          <p:cNvSpPr txBox="1"/>
          <p:nvPr/>
        </p:nvSpPr>
        <p:spPr>
          <a:xfrm>
            <a:off x="20116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CNH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 foto</a:t>
            </a:r>
            <a:endParaRPr lang="en-US" sz="1300" dirty="0"/>
          </a:p>
        </p:txBody>
      </p:sp>
      <p:sp>
        <p:nvSpPr>
          <p:cNvPr id="12" name="p 2"/>
          <p:cNvSpPr txBox="1"/>
          <p:nvPr/>
        </p:nvSpPr>
        <p:spPr>
          <a:xfrm>
            <a:off x="20116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só depois vale; ganha selo</a:t>
            </a:r>
            <a:endParaRPr lang="en-US" sz="950" dirty="0"/>
          </a:p>
        </p:txBody>
      </p:sp>
      <p:sp>
        <p:nvSpPr>
          <p:cNvPr id="13" name="seta 2"/>
          <p:cNvSpPr/>
          <p:nvPr/>
        </p:nvSpPr>
        <p:spPr>
          <a:xfrm>
            <a:off x="31272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sso 3"/>
          <p:cNvSpPr/>
          <p:nvPr/>
        </p:nvSpPr>
        <p:spPr>
          <a:xfrm>
            <a:off x="32918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5" name="n 3"/>
          <p:cNvSpPr txBox="1"/>
          <p:nvPr/>
        </p:nvSpPr>
        <p:spPr>
          <a:xfrm>
            <a:off x="33832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h 3"/>
          <p:cNvSpPr txBox="1"/>
          <p:nvPr/>
        </p:nvSpPr>
        <p:spPr>
          <a:xfrm>
            <a:off x="33832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Cartão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verificado</a:t>
            </a:r>
            <a:endParaRPr lang="en-US" sz="1300" dirty="0"/>
          </a:p>
        </p:txBody>
      </p:sp>
      <p:sp>
        <p:nvSpPr>
          <p:cNvPr id="17" name="p 3"/>
          <p:cNvSpPr txBox="1"/>
          <p:nvPr/>
        </p:nvSpPr>
        <p:spPr>
          <a:xfrm>
            <a:off x="33832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nome, caminhão, nota, link</a:t>
            </a:r>
            <a:endParaRPr lang="en-US" sz="950" dirty="0"/>
          </a:p>
        </p:txBody>
      </p:sp>
      <p:sp>
        <p:nvSpPr>
          <p:cNvPr id="18" name="seta 3"/>
          <p:cNvSpPr/>
          <p:nvPr/>
        </p:nvSpPr>
        <p:spPr>
          <a:xfrm>
            <a:off x="44988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sso 4"/>
          <p:cNvSpPr/>
          <p:nvPr/>
        </p:nvSpPr>
        <p:spPr>
          <a:xfrm>
            <a:off x="46634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0" name="n 4"/>
          <p:cNvSpPr txBox="1"/>
          <p:nvPr/>
        </p:nvSpPr>
        <p:spPr>
          <a:xfrm>
            <a:off x="47548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h 4"/>
          <p:cNvSpPr txBox="1"/>
          <p:nvPr/>
        </p:nvSpPr>
        <p:spPr>
          <a:xfrm>
            <a:off x="47548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Mensagem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pronta</a:t>
            </a:r>
            <a:endParaRPr lang="en-US" sz="1300" dirty="0"/>
          </a:p>
        </p:txBody>
      </p:sp>
      <p:sp>
        <p:nvSpPr>
          <p:cNvPr id="22" name="p 4"/>
          <p:cNvSpPr txBox="1"/>
          <p:nvPr/>
        </p:nvSpPr>
        <p:spPr>
          <a:xfrm>
            <a:off x="47548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do WhatsApp dele pro embarcador</a:t>
            </a:r>
            <a:endParaRPr lang="en-US" sz="950" dirty="0"/>
          </a:p>
        </p:txBody>
      </p:sp>
      <p:sp>
        <p:nvSpPr>
          <p:cNvPr id="23" name="seta 4"/>
          <p:cNvSpPr/>
          <p:nvPr/>
        </p:nvSpPr>
        <p:spPr>
          <a:xfrm>
            <a:off x="58704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passo 5"/>
          <p:cNvSpPr/>
          <p:nvPr/>
        </p:nvSpPr>
        <p:spPr>
          <a:xfrm>
            <a:off x="60350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5" name="n 5"/>
          <p:cNvSpPr txBox="1"/>
          <p:nvPr/>
        </p:nvSpPr>
        <p:spPr>
          <a:xfrm>
            <a:off x="61264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h 5"/>
          <p:cNvSpPr txBox="1"/>
          <p:nvPr/>
        </p:nvSpPr>
        <p:spPr>
          <a:xfrm>
            <a:off x="61264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Embarcador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chama</a:t>
            </a:r>
            <a:endParaRPr lang="en-US" sz="1300" dirty="0"/>
          </a:p>
        </p:txBody>
      </p:sp>
      <p:sp>
        <p:nvSpPr>
          <p:cNvPr id="27" name="p 5"/>
          <p:cNvSpPr txBox="1"/>
          <p:nvPr/>
        </p:nvSpPr>
        <p:spPr>
          <a:xfrm>
            <a:off x="61264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e conhece a Sofrete</a:t>
            </a:r>
            <a:endParaRPr lang="en-US" sz="950" dirty="0"/>
          </a:p>
        </p:txBody>
      </p:sp>
      <p:sp>
        <p:nvSpPr>
          <p:cNvPr id="28" name="seta 5"/>
          <p:cNvSpPr/>
          <p:nvPr/>
        </p:nvSpPr>
        <p:spPr>
          <a:xfrm>
            <a:off x="72420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passo 6"/>
          <p:cNvSpPr/>
          <p:nvPr/>
        </p:nvSpPr>
        <p:spPr>
          <a:xfrm>
            <a:off x="74066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0" name="n 6"/>
          <p:cNvSpPr txBox="1"/>
          <p:nvPr/>
        </p:nvSpPr>
        <p:spPr>
          <a:xfrm>
            <a:off x="74980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h 6"/>
          <p:cNvSpPr txBox="1"/>
          <p:nvPr/>
        </p:nvSpPr>
        <p:spPr>
          <a:xfrm>
            <a:off x="74980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Fases +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avaliação</a:t>
            </a:r>
            <a:endParaRPr lang="en-US" sz="1300" dirty="0"/>
          </a:p>
        </p:txBody>
      </p:sp>
      <p:sp>
        <p:nvSpPr>
          <p:cNvPr id="32" name="p 6"/>
          <p:cNvSpPr txBox="1"/>
          <p:nvPr/>
        </p:nvSpPr>
        <p:spPr>
          <a:xfrm>
            <a:off x="74980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no portal e no app</a:t>
            </a:r>
            <a:endParaRPr lang="en-US" sz="950" dirty="0"/>
          </a:p>
        </p:txBody>
      </p:sp>
      <p:sp>
        <p:nvSpPr>
          <p:cNvPr id="33" name="msg"/>
          <p:cNvSpPr/>
          <p:nvPr/>
        </p:nvSpPr>
        <p:spPr>
          <a:xfrm>
            <a:off x="548640" y="32918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4" name="msg h"/>
          <p:cNvSpPr txBox="1"/>
          <p:nvPr/>
        </p:nvSpPr>
        <p:spPr>
          <a:xfrm>
            <a:off x="731520" y="3364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 mensagem que o motorista manda (pronta pelo bot):</a:t>
            </a:r>
            <a:endParaRPr lang="en-US" sz="1100" dirty="0"/>
          </a:p>
        </p:txBody>
      </p:sp>
      <p:sp>
        <p:nvSpPr>
          <p:cNvPr id="35" name="msg p"/>
          <p:cNvSpPr txBox="1"/>
          <p:nvPr/>
        </p:nvSpPr>
        <p:spPr>
          <a:xfrm>
            <a:off x="731520" y="363931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bg1"/>
                </a:solidFill>
              </a:rPr>
              <a:t>"Olá! Vi o frete Itajaí → Jundiaí no Rode com Lucro e tenho interesse. Carreta sider 6 eixos, estou em Itajaí. Meu cadastro verificado: rodecomlucro.app/m/8CAENY — Publique seus fretes grátis na Sofrete: sofrete.app"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Uma limitação que vira três produtos</a:t>
            </a:r>
            <a:endParaRPr lang="en-US" sz="3200" dirty="0"/>
          </a:p>
        </p:txBody>
      </p:sp>
      <p:sp>
        <p:nvSpPr>
          <p:cNvPr id="3" name="card Verificação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dot Verificação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dot n Verificação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h Verificação"/>
          <p:cNvSpPr txBox="1"/>
          <p:nvPr/>
        </p:nvSpPr>
        <p:spPr>
          <a:xfrm>
            <a:off x="73152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Verificação</a:t>
            </a:r>
            <a:endParaRPr lang="en-US" sz="1800" dirty="0"/>
          </a:p>
        </p:txBody>
      </p:sp>
      <p:sp>
        <p:nvSpPr>
          <p:cNvPr id="7" name="p Verificação"/>
          <p:cNvSpPr txBox="1"/>
          <p:nvPr/>
        </p:nvSpPr>
        <p:spPr>
          <a:xfrm>
            <a:off x="73152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Todo motorista que se candidata manda a CNH; o cartão traz RNTRC e foto do caminhão. Selo "Verificado" em todo lugar. É o antídoto do golpe que infesta o concorrente.</a:t>
            </a:r>
            <a:endParaRPr lang="en-US" sz="1250" dirty="0"/>
          </a:p>
        </p:txBody>
      </p:sp>
      <p:sp>
        <p:nvSpPr>
          <p:cNvPr id="8" name="card Venda da Sofrete"/>
          <p:cNvSpPr/>
          <p:nvPr/>
        </p:nvSpPr>
        <p:spPr>
          <a:xfrm>
            <a:off x="324612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9" name="dot Venda da Sofrete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dot n Venda da Sofrete"/>
          <p:cNvSpPr txBox="1"/>
          <p:nvPr/>
        </p:nvSpPr>
        <p:spPr>
          <a:xfrm>
            <a:off x="3429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h Venda da Sofrete"/>
          <p:cNvSpPr txBox="1"/>
          <p:nvPr/>
        </p:nvSpPr>
        <p:spPr>
          <a:xfrm>
            <a:off x="342900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Venda da Sofrete</a:t>
            </a:r>
            <a:endParaRPr lang="en-US" sz="1800" dirty="0"/>
          </a:p>
        </p:txBody>
      </p:sp>
      <p:sp>
        <p:nvSpPr>
          <p:cNvPr id="12" name="p Venda da Sofrete"/>
          <p:cNvSpPr txBox="1"/>
          <p:nvPr/>
        </p:nvSpPr>
        <p:spPr>
          <a:xfrm>
            <a:off x="342900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Cada interesse num frete de empresa não cadastrada é uma apresentação da Sofrete feita por um caminhoneiro verificado, na hora em que ela mais precisa de caminhão.</a:t>
            </a:r>
            <a:endParaRPr lang="en-US" sz="1250" dirty="0"/>
          </a:p>
        </p:txBody>
      </p:sp>
      <p:sp>
        <p:nvSpPr>
          <p:cNvPr id="13" name="card Reputação"/>
          <p:cNvSpPr/>
          <p:nvPr/>
        </p:nvSpPr>
        <p:spPr>
          <a:xfrm>
            <a:off x="594360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dot Reputação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dot n Reputação"/>
          <p:cNvSpPr txBox="1"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h Reputação"/>
          <p:cNvSpPr txBox="1"/>
          <p:nvPr/>
        </p:nvSpPr>
        <p:spPr>
          <a:xfrm>
            <a:off x="612648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Reputação</a:t>
            </a:r>
            <a:endParaRPr lang="en-US" sz="1800" dirty="0"/>
          </a:p>
        </p:txBody>
      </p:sp>
      <p:sp>
        <p:nvSpPr>
          <p:cNvPr id="17" name="p Reputação"/>
          <p:cNvSpPr txBox="1"/>
          <p:nvPr/>
        </p:nvSpPr>
        <p:spPr>
          <a:xfrm>
            <a:off x="612648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Avaliação dos dois lados, só depois de frete fechado. Nota da empresa no anúncio; nota do motorista no cartão. Ninguém no mercado tem.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entra no MVP, em ordem</a:t>
            </a:r>
            <a:endParaRPr lang="en-US" sz="2800" dirty="0"/>
          </a:p>
        </p:txBody>
      </p:sp>
      <p:sp>
        <p:nvSpPr>
          <p:cNvPr id="3" name="linha"/>
          <p:cNvSpPr/>
          <p:nvPr/>
        </p:nvSpPr>
        <p:spPr>
          <a:xfrm>
            <a:off x="914400" y="1417320"/>
            <a:ext cx="0" cy="3154680"/>
          </a:xfrm>
          <a:prstGeom prst="line">
            <a:avLst/>
          </a:prstGeom>
          <a:noFill/>
          <a:ln w="25400">
            <a:solidFill>
              <a:srgbClr val="F2B01E"/>
            </a:solidFill>
            <a:prstDash val="solid"/>
          </a:ln>
        </p:spPr>
      </p:sp>
      <p:sp>
        <p:nvSpPr>
          <p:cNvPr id="4" name="ponto 1"/>
          <p:cNvSpPr/>
          <p:nvPr/>
        </p:nvSpPr>
        <p:spPr>
          <a:xfrm>
            <a:off x="786384" y="138988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5" name="h 1"/>
          <p:cNvSpPr txBox="1"/>
          <p:nvPr/>
        </p:nvSpPr>
        <p:spPr>
          <a:xfrm>
            <a:off x="12801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Fretes vivos</a:t>
            </a:r>
            <a:endParaRPr lang="en-US" sz="1500" dirty="0"/>
          </a:p>
        </p:txBody>
      </p:sp>
      <p:sp>
        <p:nvSpPr>
          <p:cNvPr id="6" name="p 1"/>
          <p:cNvSpPr txBox="1"/>
          <p:nvPr/>
        </p:nvSpPr>
        <p:spPr>
          <a:xfrm>
            <a:off x="45720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robô diário ou só Sofrete</a:t>
            </a:r>
            <a:endParaRPr lang="en-US" sz="1200" dirty="0"/>
          </a:p>
        </p:txBody>
      </p:sp>
      <p:sp>
        <p:nvSpPr>
          <p:cNvPr id="7" name="dias 1"/>
          <p:cNvSpPr/>
          <p:nvPr/>
        </p:nvSpPr>
        <p:spPr>
          <a:xfrm>
            <a:off x="7498080" y="135331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dias txt 1"/>
          <p:cNvSpPr txBox="1"/>
          <p:nvPr/>
        </p:nvSpPr>
        <p:spPr>
          <a:xfrm>
            <a:off x="7498080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dia</a:t>
            </a:r>
            <a:endParaRPr lang="en-US" sz="1200" dirty="0"/>
          </a:p>
        </p:txBody>
      </p:sp>
      <p:sp>
        <p:nvSpPr>
          <p:cNvPr id="9" name="ponto 2"/>
          <p:cNvSpPr/>
          <p:nvPr/>
        </p:nvSpPr>
        <p:spPr>
          <a:xfrm>
            <a:off x="786384" y="193852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0" name="h 2"/>
          <p:cNvSpPr txBox="1"/>
          <p:nvPr/>
        </p:nvSpPr>
        <p:spPr>
          <a:xfrm>
            <a:off x="12801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Pedágio pago pelo embarcador</a:t>
            </a:r>
            <a:endParaRPr lang="en-US" sz="1500" dirty="0"/>
          </a:p>
        </p:txBody>
      </p:sp>
      <p:sp>
        <p:nvSpPr>
          <p:cNvPr id="11" name="p 2"/>
          <p:cNvSpPr txBox="1"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toggle no app, entendido pelo bot</a:t>
            </a:r>
            <a:endParaRPr lang="en-US" sz="1200" dirty="0"/>
          </a:p>
        </p:txBody>
      </p:sp>
      <p:sp>
        <p:nvSpPr>
          <p:cNvPr id="12" name="dias 2"/>
          <p:cNvSpPr/>
          <p:nvPr/>
        </p:nvSpPr>
        <p:spPr>
          <a:xfrm>
            <a:off x="7498080" y="19019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3" name="dias txt 2"/>
          <p:cNvSpPr txBox="1"/>
          <p:nvPr/>
        </p:nvSpPr>
        <p:spPr>
          <a:xfrm>
            <a:off x="7498080" y="1901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horas</a:t>
            </a:r>
            <a:endParaRPr lang="en-US" sz="1200" dirty="0"/>
          </a:p>
        </p:txBody>
      </p:sp>
      <p:sp>
        <p:nvSpPr>
          <p:cNvPr id="14" name="ponto 3"/>
          <p:cNvSpPr/>
          <p:nvPr/>
        </p:nvSpPr>
        <p:spPr>
          <a:xfrm>
            <a:off x="786384" y="248716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5" name="h 3"/>
          <p:cNvSpPr txBox="1"/>
          <p:nvPr/>
        </p:nvSpPr>
        <p:spPr>
          <a:xfrm>
            <a:off x="12801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Tenho interesse — etapa 1</a:t>
            </a:r>
            <a:endParaRPr lang="en-US" sz="1500" dirty="0"/>
          </a:p>
        </p:txBody>
      </p:sp>
      <p:sp>
        <p:nvSpPr>
          <p:cNvPr id="16" name="p 3"/>
          <p:cNvSpPr txBox="1"/>
          <p:nvPr/>
        </p:nvSpPr>
        <p:spPr>
          <a:xfrm>
            <a:off x="45720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botão, CNH, cartão, mensagem pronta</a:t>
            </a:r>
            <a:endParaRPr lang="en-US" sz="1200" dirty="0"/>
          </a:p>
        </p:txBody>
      </p:sp>
      <p:sp>
        <p:nvSpPr>
          <p:cNvPr id="17" name="dias 3"/>
          <p:cNvSpPr/>
          <p:nvPr/>
        </p:nvSpPr>
        <p:spPr>
          <a:xfrm>
            <a:off x="7498080" y="245059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dias txt 3"/>
          <p:cNvSpPr txBox="1"/>
          <p:nvPr/>
        </p:nvSpPr>
        <p:spPr>
          <a:xfrm>
            <a:off x="7498080" y="2450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dias</a:t>
            </a:r>
            <a:endParaRPr lang="en-US" sz="1200" dirty="0"/>
          </a:p>
        </p:txBody>
      </p:sp>
      <p:sp>
        <p:nvSpPr>
          <p:cNvPr id="19" name="ponto 4"/>
          <p:cNvSpPr/>
          <p:nvPr/>
        </p:nvSpPr>
        <p:spPr>
          <a:xfrm>
            <a:off x="786384" y="303580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20" name="h 4"/>
          <p:cNvSpPr txBox="1"/>
          <p:nvPr/>
        </p:nvSpPr>
        <p:spPr>
          <a:xfrm>
            <a:off x="128016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Tenho interesse — etapas 2 a 5</a:t>
            </a:r>
            <a:endParaRPr lang="en-US" sz="1500" dirty="0"/>
          </a:p>
        </p:txBody>
      </p:sp>
      <p:sp>
        <p:nvSpPr>
          <p:cNvPr id="21" name="p 4"/>
          <p:cNvSpPr txBox="1"/>
          <p:nvPr/>
        </p:nvSpPr>
        <p:spPr>
          <a:xfrm>
            <a:off x="45720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fases na Sofrete, disponível na busca, RNTRC, foto, avaliações</a:t>
            </a:r>
            <a:endParaRPr lang="en-US" sz="1200" dirty="0"/>
          </a:p>
        </p:txBody>
      </p:sp>
      <p:sp>
        <p:nvSpPr>
          <p:cNvPr id="22" name="dias 4"/>
          <p:cNvSpPr/>
          <p:nvPr/>
        </p:nvSpPr>
        <p:spPr>
          <a:xfrm>
            <a:off x="7498080" y="299923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3" name="dias txt 4"/>
          <p:cNvSpPr txBox="1"/>
          <p:nvPr/>
        </p:nvSpPr>
        <p:spPr>
          <a:xfrm>
            <a:off x="7498080" y="29992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 dias</a:t>
            </a:r>
            <a:endParaRPr lang="en-US" sz="1200" dirty="0"/>
          </a:p>
        </p:txBody>
      </p:sp>
      <p:sp>
        <p:nvSpPr>
          <p:cNvPr id="24" name="ponto 5"/>
          <p:cNvSpPr/>
          <p:nvPr/>
        </p:nvSpPr>
        <p:spPr>
          <a:xfrm>
            <a:off x="786384" y="358444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25" name="h 5"/>
          <p:cNvSpPr txBox="1"/>
          <p:nvPr/>
        </p:nvSpPr>
        <p:spPr>
          <a:xfrm>
            <a:off x="128016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Tô vazio</a:t>
            </a:r>
            <a:endParaRPr lang="en-US" sz="1500" dirty="0"/>
          </a:p>
        </p:txBody>
      </p:sp>
      <p:sp>
        <p:nvSpPr>
          <p:cNvPr id="26" name="p 5"/>
          <p:cNvSpPr txBox="1"/>
          <p:nvPr/>
        </p:nvSpPr>
        <p:spPr>
          <a:xfrm>
            <a:off x="457200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bot + app, expira em 24 h</a:t>
            </a:r>
            <a:endParaRPr lang="en-US" sz="1200" dirty="0"/>
          </a:p>
        </p:txBody>
      </p:sp>
      <p:sp>
        <p:nvSpPr>
          <p:cNvPr id="27" name="dias 5"/>
          <p:cNvSpPr/>
          <p:nvPr/>
        </p:nvSpPr>
        <p:spPr>
          <a:xfrm>
            <a:off x="7498080" y="35478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8" name="dias txt 5"/>
          <p:cNvSpPr txBox="1"/>
          <p:nvPr/>
        </p:nvSpPr>
        <p:spPr>
          <a:xfrm>
            <a:off x="7498080" y="3547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dias</a:t>
            </a:r>
            <a:endParaRPr lang="en-US" sz="1200" dirty="0"/>
          </a:p>
        </p:txBody>
      </p:sp>
      <p:sp>
        <p:nvSpPr>
          <p:cNvPr id="29" name="ponto 6"/>
          <p:cNvSpPr/>
          <p:nvPr/>
        </p:nvSpPr>
        <p:spPr>
          <a:xfrm>
            <a:off x="786384" y="413308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30" name="h 6"/>
          <p:cNvSpPr txBox="1"/>
          <p:nvPr/>
        </p:nvSpPr>
        <p:spPr>
          <a:xfrm>
            <a:off x="12801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Vários destinos</a:t>
            </a:r>
            <a:endParaRPr lang="en-US" sz="1500" dirty="0"/>
          </a:p>
        </p:txBody>
      </p:sp>
      <p:sp>
        <p:nvSpPr>
          <p:cNvPr id="31" name="p 6"/>
          <p:cNvSpPr txBox="1"/>
          <p:nvPr/>
        </p:nvSpPr>
        <p:spPr>
          <a:xfrm>
            <a:off x="45720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 cálculo (app e bot)</a:t>
            </a:r>
            <a:endParaRPr lang="en-US" sz="1200" dirty="0"/>
          </a:p>
        </p:txBody>
      </p:sp>
      <p:sp>
        <p:nvSpPr>
          <p:cNvPr id="32" name="dias 6"/>
          <p:cNvSpPr/>
          <p:nvPr/>
        </p:nvSpPr>
        <p:spPr>
          <a:xfrm>
            <a:off x="7498080" y="409651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3" name="dias txt 6"/>
          <p:cNvSpPr txBox="1"/>
          <p:nvPr/>
        </p:nvSpPr>
        <p:spPr>
          <a:xfrm>
            <a:off x="7498080" y="4096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dia</a:t>
            </a:r>
            <a:endParaRPr lang="en-US" sz="1200" dirty="0"/>
          </a:p>
        </p:txBody>
      </p:sp>
      <p:sp>
        <p:nvSpPr>
          <p:cNvPr id="34" name="total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Total ≈ 16 dias úteis. Os três primeiros (≈ 4 dias) já resolvem telefone, custo real e lista velha.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PRO: o código está pronto, falta a decisão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Tabela completa em Docs/decisoes-pagamento-2026-10-09.xlsx. Parado desde 09/10.</a:t>
            </a:r>
            <a:endParaRPr lang="en-US" sz="1200" dirty="0"/>
          </a:p>
        </p:txBody>
      </p:sp>
      <p:graphicFrame>
        <p:nvGraphicFramePr>
          <p:cNvPr id="12" name="tabela p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paga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 — plano "Rode com Lucro PRO"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quem usa todo dia; a empresa entra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e preço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Mensal, sugestão R$ 29,90; sem trial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grátis com limite já é a degustação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libera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Fretes ilimitados + primeira mão (&lt; 2 h) + WhatsApp sem limite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claro pra quem vive de carga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do grátis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consultas/dia no WhatsApp (hoje 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cálculo, cotação e busca contam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Provedor / 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Stripe, só cartão; PIX pronto pra ligar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hospedado; 3,99% + R$ 0,39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compra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Site/PWA e link no WhatsApp — nunca dentro do app da Play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Billing custa 4×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ligar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da semeadura (30–50 ativos)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Cobrar antes do uso é cobrar de ninguém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fica pra depois, e o gatilho de cada um</a:t>
            </a:r>
            <a:endParaRPr lang="en-US" sz="2800" dirty="0"/>
          </a:p>
        </p:txBody>
      </p:sp>
      <p:sp>
        <p:nvSpPr>
          <p:cNvPr id="3" name="card Comunidade dos Caminhoneiros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h Comunidade dos Caminhoneiros"/>
          <p:cNvSpPr txBox="1"/>
          <p:nvPr/>
        </p:nvSpPr>
        <p:spPr>
          <a:xfrm>
            <a:off x="73152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Comunidade dos Caminhoneiros</a:t>
            </a:r>
            <a:endParaRPr lang="en-US" sz="1600" dirty="0"/>
          </a:p>
        </p:txBody>
      </p:sp>
      <p:sp>
        <p:nvSpPr>
          <p:cNvPr id="5" name="p Comunidade dos Caminhoneiros"/>
          <p:cNvSpPr txBox="1"/>
          <p:nvPr/>
        </p:nvSpPr>
        <p:spPr>
          <a:xfrm>
            <a:off x="73152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Comunidade só de verificados, grátis, com anúncios, indicações, avaliações e encontros. Propaganda paga é a receita.</a:t>
            </a:r>
            <a:endParaRPr lang="en-US" sz="1250" dirty="0"/>
          </a:p>
        </p:txBody>
      </p:sp>
      <p:sp>
        <p:nvSpPr>
          <p:cNvPr id="6" name="g Comunidade dos Caminhoneiros"/>
          <p:cNvSpPr/>
          <p:nvPr/>
        </p:nvSpPr>
        <p:spPr>
          <a:xfrm>
            <a:off x="73152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g txt Comunidade dos Caminhoneiros"/>
          <p:cNvSpPr txBox="1"/>
          <p:nvPr/>
        </p:nvSpPr>
        <p:spPr>
          <a:xfrm>
            <a:off x="82296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300 motoristas</a:t>
            </a:r>
            <a:endParaRPr lang="en-US" sz="1100" dirty="0"/>
          </a:p>
        </p:txBody>
      </p:sp>
      <p:sp>
        <p:nvSpPr>
          <p:cNvPr id="8" name="card Google Play"/>
          <p:cNvSpPr/>
          <p:nvPr/>
        </p:nvSpPr>
        <p:spPr>
          <a:xfrm>
            <a:off x="324612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9" name="h Google Play"/>
          <p:cNvSpPr txBox="1"/>
          <p:nvPr/>
        </p:nvSpPr>
        <p:spPr>
          <a:xfrm>
            <a:off x="342900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Play</a:t>
            </a:r>
            <a:endParaRPr lang="en-US" sz="1600" dirty="0"/>
          </a:p>
        </p:txBody>
      </p:sp>
      <p:sp>
        <p:nvSpPr>
          <p:cNvPr id="10" name="p Google Play"/>
          <p:cNvSpPr txBox="1"/>
          <p:nvPr/>
        </p:nvSpPr>
        <p:spPr>
          <a:xfrm>
            <a:off x="342900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 na loja via TWA. Domínio próprio, conta de organização e D-U-N-S já pedidos.</a:t>
            </a:r>
            <a:endParaRPr lang="en-US" sz="1250" dirty="0"/>
          </a:p>
        </p:txBody>
      </p:sp>
      <p:sp>
        <p:nvSpPr>
          <p:cNvPr id="11" name="g Google Play"/>
          <p:cNvSpPr/>
          <p:nvPr/>
        </p:nvSpPr>
        <p:spPr>
          <a:xfrm>
            <a:off x="342900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2" name="g txt Google Play"/>
          <p:cNvSpPr txBox="1"/>
          <p:nvPr/>
        </p:nvSpPr>
        <p:spPr>
          <a:xfrm>
            <a:off x="352044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domínio + conta chegarem</a:t>
            </a:r>
            <a:endParaRPr lang="en-US" sz="1100" dirty="0"/>
          </a:p>
        </p:txBody>
      </p:sp>
      <p:sp>
        <p:nvSpPr>
          <p:cNvPr id="13" name="card App Store"/>
          <p:cNvSpPr/>
          <p:nvPr/>
        </p:nvSpPr>
        <p:spPr>
          <a:xfrm>
            <a:off x="594360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h App Store"/>
          <p:cNvSpPr txBox="1"/>
          <p:nvPr/>
        </p:nvSpPr>
        <p:spPr>
          <a:xfrm>
            <a:off x="612648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 Store</a:t>
            </a:r>
            <a:endParaRPr lang="en-US" sz="1600" dirty="0"/>
          </a:p>
        </p:txBody>
      </p:sp>
      <p:sp>
        <p:nvSpPr>
          <p:cNvPr id="15" name="p App Store"/>
          <p:cNvSpPr txBox="1"/>
          <p:nvPr/>
        </p:nvSpPr>
        <p:spPr>
          <a:xfrm>
            <a:off x="612648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Só com push/câmera nativos. Antes disso o PWA cobre o iPhone.</a:t>
            </a:r>
            <a:endParaRPr lang="en-US" sz="1250" dirty="0"/>
          </a:p>
        </p:txBody>
      </p:sp>
      <p:sp>
        <p:nvSpPr>
          <p:cNvPr id="16" name="g App Store"/>
          <p:cNvSpPr/>
          <p:nvPr/>
        </p:nvSpPr>
        <p:spPr>
          <a:xfrm>
            <a:off x="612648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g txt App Store"/>
          <p:cNvSpPr txBox="1"/>
          <p:nvPr/>
        </p:nvSpPr>
        <p:spPr>
          <a:xfrm>
            <a:off x="621792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Play no ar + demanda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As 5 decisões de hoje</a:t>
            </a:r>
            <a:endParaRPr lang="en-US" sz="3200" dirty="0"/>
          </a:p>
        </p:txBody>
      </p:sp>
      <p:sp>
        <p:nvSpPr>
          <p:cNvPr id="3" name="check 1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4" name="h 1"/>
          <p:cNvSpPr txBox="1"/>
          <p:nvPr/>
        </p:nvSpPr>
        <p:spPr>
          <a:xfrm>
            <a:off x="1097280" y="12801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Aprovar o "Tenho interesse" (21 itens) e a ordem do MVP</a:t>
            </a:r>
            <a:endParaRPr lang="en-US" sz="1600" dirty="0"/>
          </a:p>
        </p:txBody>
      </p:sp>
      <p:sp>
        <p:nvSpPr>
          <p:cNvPr id="5" name="p 1"/>
          <p:cNvSpPr txBox="1"/>
          <p:nvPr/>
        </p:nvSpPr>
        <p:spPr>
          <a:xfrm>
            <a:off x="1097280" y="1572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fretes vivos → pedágio → interesse etapa 1 → resto</a:t>
            </a:r>
            <a:endParaRPr lang="en-US" sz="1200" dirty="0"/>
          </a:p>
        </p:txBody>
      </p:sp>
      <p:sp>
        <p:nvSpPr>
          <p:cNvPr id="6" name="check 2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7" name="h 2"/>
          <p:cNvSpPr txBox="1"/>
          <p:nvPr/>
        </p:nvSpPr>
        <p:spPr>
          <a:xfrm>
            <a:off x="1097280" y="1920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CNH obrigatória pra se candidatar a um frete</a:t>
            </a:r>
            <a:endParaRPr lang="en-US" sz="1600" dirty="0"/>
          </a:p>
        </p:txBody>
      </p:sp>
      <p:sp>
        <p:nvSpPr>
          <p:cNvPr id="8" name="p 2"/>
          <p:cNvSpPr txBox="1"/>
          <p:nvPr/>
        </p:nvSpPr>
        <p:spPr>
          <a:xfrm>
            <a:off x="109728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 interesse só chega ao embarcador depois da CNH lida</a:t>
            </a:r>
            <a:endParaRPr lang="en-US" sz="1200" dirty="0"/>
          </a:p>
        </p:txBody>
      </p:sp>
      <p:sp>
        <p:nvSpPr>
          <p:cNvPr id="9" name="check 3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0" name="h 3"/>
          <p:cNvSpPr txBox="1"/>
          <p:nvPr/>
        </p:nvSpPr>
        <p:spPr>
          <a:xfrm>
            <a:off x="1097280" y="2560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Fechar a tabela do PRO</a:t>
            </a:r>
            <a:endParaRPr lang="en-US" sz="1600" dirty="0"/>
          </a:p>
        </p:txBody>
      </p:sp>
      <p:sp>
        <p:nvSpPr>
          <p:cNvPr id="11" name="p 3"/>
          <p:cNvSpPr txBox="1"/>
          <p:nvPr/>
        </p:nvSpPr>
        <p:spPr>
          <a:xfrm>
            <a:off x="1097280" y="2852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preço, limite do grátis em 5, Stripe só cartão, ligar após semeadura</a:t>
            </a:r>
            <a:endParaRPr lang="en-US" sz="1200" dirty="0"/>
          </a:p>
        </p:txBody>
      </p:sp>
      <p:sp>
        <p:nvSpPr>
          <p:cNvPr id="12" name="check 4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3" name="h 4"/>
          <p:cNvSpPr txBox="1"/>
          <p:nvPr/>
        </p:nvSpPr>
        <p:spPr>
          <a:xfrm>
            <a:off x="1097280" y="32004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Quem traz as 3 primeiras empresas pra Sofrete</a:t>
            </a:r>
            <a:endParaRPr lang="en-US" sz="1600" dirty="0"/>
          </a:p>
        </p:txBody>
      </p:sp>
      <p:sp>
        <p:nvSpPr>
          <p:cNvPr id="14" name="p 4"/>
          <p:cNvSpPr txBox="1"/>
          <p:nvPr/>
        </p:nvSpPr>
        <p:spPr>
          <a:xfrm>
            <a:off x="1097280" y="34930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sem carga viva nada do resto funciona</a:t>
            </a:r>
            <a:endParaRPr lang="en-US" sz="1200" dirty="0"/>
          </a:p>
        </p:txBody>
      </p:sp>
      <p:sp>
        <p:nvSpPr>
          <p:cNvPr id="15" name="check 5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6" name="h 5"/>
          <p:cNvSpPr txBox="1"/>
          <p:nvPr/>
        </p:nvSpPr>
        <p:spPr>
          <a:xfrm>
            <a:off x="1097280" y="3840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Fretes: robô diário ou só Sofrete</a:t>
            </a:r>
            <a:endParaRPr lang="en-US" sz="1600" dirty="0"/>
          </a:p>
        </p:txBody>
      </p:sp>
      <p:sp>
        <p:nvSpPr>
          <p:cNvPr id="17" name="p 5"/>
          <p:cNvSpPr txBox="1"/>
          <p:nvPr/>
        </p:nvSpPr>
        <p:spPr>
          <a:xfrm>
            <a:off x="1097280" y="4133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os 810 de agosto saem do ar de qualquer jeito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Demo ao vivo</a:t>
            </a:r>
            <a:endParaRPr lang="en-US" sz="3200" dirty="0"/>
          </a:p>
        </p:txBody>
      </p:sp>
      <p:sp>
        <p:nvSpPr>
          <p:cNvPr id="3" name="cta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Peguem o celular e mandem pro Rode com Lucro:</a:t>
            </a:r>
            <a:endParaRPr lang="en-US" sz="1600" dirty="0"/>
          </a:p>
        </p:txBody>
      </p:sp>
      <p:sp>
        <p:nvSpPr>
          <p:cNvPr id="4" name="numero"/>
          <p:cNvSpPr/>
          <p:nvPr/>
        </p:nvSpPr>
        <p:spPr>
          <a:xfrm>
            <a:off x="548640" y="18745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numero txt"/>
          <p:cNvSpPr txBox="1"/>
          <p:nvPr/>
        </p:nvSpPr>
        <p:spPr>
          <a:xfrm>
            <a:off x="731520" y="1874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 99991-9971  ·  "Sinop pra Santos, 14 mil"</a:t>
            </a:r>
            <a:endParaRPr lang="en-US" sz="2400" dirty="0"/>
          </a:p>
        </p:txBody>
      </p:sp>
      <p:sp>
        <p:nvSpPr>
          <p:cNvPr id="6" name="roteiro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 segundos: custo real, lucro, piso ANTT e veredito — sem instalar nada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Depois: "tem carga saindo de Cuiabá?" → lista de fretes → toque num → "Mandar pra um colega"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Manda a foto da CNH → cadastro preenchido, imagem apagada, CPF nunca lido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de com Lucro">
  <a:themeElements>
    <a:clrScheme name="Rode com Lucro">
      <a:dk1>
        <a:srgbClr val="1C2421"/>
      </a:dk1>
      <a:lt1>
        <a:srgbClr val="FFFFFF"/>
      </a:lt1>
      <a:dk2>
        <a:srgbClr val="0B0E0D"/>
      </a:dk2>
      <a:lt2>
        <a:srgbClr val="F4F1E8"/>
      </a:lt2>
      <a:accent1>
        <a:srgbClr val="F2B01E"/>
      </a:accent1>
      <a:accent2>
        <a:srgbClr val="C9901A"/>
      </a:accent2>
      <a:accent3>
        <a:srgbClr val="2FD46E"/>
      </a:accent3>
      <a:accent4>
        <a:srgbClr val="FF9F1C"/>
      </a:accent4>
      <a:accent5>
        <a:srgbClr val="FF5A5A"/>
      </a:accent5>
      <a:accent6>
        <a:srgbClr val="7E8C88"/>
      </a:accent6>
      <a:hlink>
        <a:srgbClr val="C9901A"/>
      </a:hlink>
      <a:folHlink>
        <a:srgbClr val="7E8C88"/>
      </a:folHlink>
    </a:clrScheme>
    <a:fontScheme name="Rode com Luc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Rode com Lucro / Sofrete — reunião de sócios, out/2026</dc:title>
  <dc:subject>PptxGenJS Presentation</dc:subject>
  <dc:creator>PptxGenJS</dc:creator>
  <cp:lastModifiedBy>PptxGenJS</cp:lastModifiedBy>
  <cp:revision>1</cp:revision>
  <dcterms:created xsi:type="dcterms:W3CDTF">2026-10-15T10:57:43Z</dcterms:created>
  <dcterms:modified xsi:type="dcterms:W3CDTF">2026-10-15T10:57:43Z</dcterms:modified>
</cp:coreProperties>
</file>